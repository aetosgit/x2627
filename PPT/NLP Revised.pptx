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61" r:id="rId3"/>
    <p:sldId id="260" r:id="rId4"/>
    <p:sldId id="259" r:id="rId5"/>
    <p:sldId id="264" r:id="rId6"/>
    <p:sldId id="265" r:id="rId7"/>
    <p:sldId id="266" r:id="rId8"/>
    <p:sldId id="267" r:id="rId9"/>
    <p:sldId id="268" r:id="rId10"/>
    <p:sldId id="269" r:id="rId11"/>
    <p:sldId id="270" r:id="rId12"/>
    <p:sldId id="271" r:id="rId13"/>
    <p:sldId id="272" r:id="rId14"/>
    <p:sldId id="274" r:id="rId15"/>
    <p:sldId id="275" r:id="rId16"/>
    <p:sldId id="276" r:id="rId17"/>
    <p:sldId id="278" r:id="rId18"/>
    <p:sldId id="279" r:id="rId19"/>
    <p:sldId id="277" r:id="rId20"/>
    <p:sldId id="280" r:id="rId21"/>
    <p:sldId id="281" r:id="rId22"/>
    <p:sldId id="273"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27" d="100"/>
          <a:sy n="127" d="100"/>
        </p:scale>
        <p:origin x="512"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C3DDEC3-4410-4A7B-A08D-B4E398522276}" type="doc">
      <dgm:prSet loTypeId="urn:microsoft.com/office/officeart/2005/8/layout/orgChart1#1" loCatId="hierarchy" qsTypeId="urn:microsoft.com/office/officeart/2005/8/quickstyle/simple1#1" qsCatId="simple" csTypeId="urn:microsoft.com/office/officeart/2005/8/colors/colorful1#1" csCatId="accent1" phldr="1"/>
      <dgm:spPr/>
      <dgm:t>
        <a:bodyPr/>
        <a:lstStyle/>
        <a:p>
          <a:endParaRPr lang="en-US"/>
        </a:p>
      </dgm:t>
    </dgm:pt>
    <dgm:pt modelId="{F970B406-3137-445F-A047-960BE6F8F548}">
      <dgm:prSet phldrT="[Text]" phldr="0" custT="0"/>
      <dgm:spPr/>
      <dgm:t>
        <a:bodyPr vert="horz" wrap="square"/>
        <a:lstStyle/>
        <a:p>
          <a:pPr>
            <a:lnSpc>
              <a:spcPct val="100000"/>
            </a:lnSpc>
            <a:spcBef>
              <a:spcPct val="0"/>
            </a:spcBef>
            <a:spcAft>
              <a:spcPct val="35000"/>
            </a:spcAft>
          </a:pPr>
          <a:r>
            <a:rPr lang="en-US"/>
            <a:t>NLP</a:t>
          </a:r>
        </a:p>
      </dgm:t>
    </dgm:pt>
    <dgm:pt modelId="{DE9920FC-ADF2-43FC-8D66-AB16E15737FC}" type="parTrans" cxnId="{654EEF75-5380-40A0-BF89-BA50728D9548}">
      <dgm:prSet/>
      <dgm:spPr/>
      <dgm:t>
        <a:bodyPr/>
        <a:lstStyle/>
        <a:p>
          <a:endParaRPr lang="en-US"/>
        </a:p>
      </dgm:t>
    </dgm:pt>
    <dgm:pt modelId="{A6DBE21A-0230-45DE-A17E-9E9D78667511}" type="sibTrans" cxnId="{654EEF75-5380-40A0-BF89-BA50728D9548}">
      <dgm:prSet/>
      <dgm:spPr/>
      <dgm:t>
        <a:bodyPr/>
        <a:lstStyle/>
        <a:p>
          <a:endParaRPr lang="en-US"/>
        </a:p>
      </dgm:t>
    </dgm:pt>
    <dgm:pt modelId="{2199E590-A466-443A-B43D-5CA7DA30B3AC}">
      <dgm:prSet phldrT="[Text]" phldr="0" custT="0"/>
      <dgm:spPr/>
      <dgm:t>
        <a:bodyPr vert="horz" wrap="square"/>
        <a:lstStyle/>
        <a:p>
          <a:pPr>
            <a:lnSpc>
              <a:spcPct val="100000"/>
            </a:lnSpc>
            <a:spcBef>
              <a:spcPct val="0"/>
            </a:spcBef>
            <a:spcAft>
              <a:spcPct val="35000"/>
            </a:spcAft>
          </a:pPr>
          <a:r>
            <a:rPr lang="en-US"/>
            <a:t>Voice Assistants</a:t>
          </a:r>
        </a:p>
      </dgm:t>
    </dgm:pt>
    <dgm:pt modelId="{0F1D7D4E-BD8E-43C1-8F99-ED496D7A9BB4}" type="parTrans" cxnId="{3DF10DDA-EC08-484B-9455-755E4F5B1779}">
      <dgm:prSet/>
      <dgm:spPr/>
      <dgm:t>
        <a:bodyPr/>
        <a:lstStyle/>
        <a:p>
          <a:endParaRPr lang="en-US"/>
        </a:p>
      </dgm:t>
    </dgm:pt>
    <dgm:pt modelId="{49BEF6ED-1342-41F0-807C-53E1906472B9}" type="sibTrans" cxnId="{3DF10DDA-EC08-484B-9455-755E4F5B1779}">
      <dgm:prSet/>
      <dgm:spPr/>
      <dgm:t>
        <a:bodyPr/>
        <a:lstStyle/>
        <a:p>
          <a:endParaRPr lang="en-US"/>
        </a:p>
      </dgm:t>
    </dgm:pt>
    <dgm:pt modelId="{6410EC4E-6AA5-4F68-930B-680495E49A0B}">
      <dgm:prSet phldrT="[Text]" phldr="0" custT="0"/>
      <dgm:spPr/>
      <dgm:t>
        <a:bodyPr vert="horz" wrap="square"/>
        <a:lstStyle/>
        <a:p>
          <a:pPr>
            <a:lnSpc>
              <a:spcPct val="100000"/>
            </a:lnSpc>
            <a:spcBef>
              <a:spcPct val="0"/>
            </a:spcBef>
            <a:spcAft>
              <a:spcPct val="35000"/>
            </a:spcAft>
          </a:pPr>
          <a:r>
            <a:rPr lang="en-US"/>
            <a:t>Auto Generated Captions</a:t>
          </a:r>
        </a:p>
      </dgm:t>
    </dgm:pt>
    <dgm:pt modelId="{23807AB1-DC98-4728-B950-3E60934BA7E7}" type="parTrans" cxnId="{538B2C53-EF76-42BA-910E-E2E6CD16F8B0}">
      <dgm:prSet/>
      <dgm:spPr/>
      <dgm:t>
        <a:bodyPr/>
        <a:lstStyle/>
        <a:p>
          <a:endParaRPr lang="en-US"/>
        </a:p>
      </dgm:t>
    </dgm:pt>
    <dgm:pt modelId="{B19E9109-E222-453D-A601-BD15100C2B8F}" type="sibTrans" cxnId="{538B2C53-EF76-42BA-910E-E2E6CD16F8B0}">
      <dgm:prSet/>
      <dgm:spPr/>
      <dgm:t>
        <a:bodyPr/>
        <a:lstStyle/>
        <a:p>
          <a:endParaRPr lang="en-US"/>
        </a:p>
      </dgm:t>
    </dgm:pt>
    <dgm:pt modelId="{665F92F2-5610-40E7-BB12-9AB57831ED80}">
      <dgm:prSet phldr="0" custT="0"/>
      <dgm:spPr/>
      <dgm:t>
        <a:bodyPr vert="horz" wrap="square"/>
        <a:lstStyle/>
        <a:p>
          <a:pPr>
            <a:lnSpc>
              <a:spcPct val="100000"/>
            </a:lnSpc>
            <a:spcBef>
              <a:spcPct val="0"/>
            </a:spcBef>
            <a:spcAft>
              <a:spcPct val="35000"/>
            </a:spcAft>
          </a:pPr>
          <a:r>
            <a:rPr lang="en-US"/>
            <a:t>Language Translations</a:t>
          </a:r>
        </a:p>
      </dgm:t>
    </dgm:pt>
    <dgm:pt modelId="{247CB0BA-0B65-47EA-BEEC-96F9938A5E20}" type="parTrans" cxnId="{3C959DD4-3E76-4501-A243-6D776DE8C0C3}">
      <dgm:prSet/>
      <dgm:spPr/>
    </dgm:pt>
    <dgm:pt modelId="{211D9019-7CFE-48BD-BCA0-B88EB19E3C71}" type="sibTrans" cxnId="{3C959DD4-3E76-4501-A243-6D776DE8C0C3}">
      <dgm:prSet/>
      <dgm:spPr/>
    </dgm:pt>
    <dgm:pt modelId="{ED6B6341-2DCA-474B-9B2D-C59F30D677C1}">
      <dgm:prSet phldr="0" custT="0"/>
      <dgm:spPr/>
      <dgm:t>
        <a:bodyPr vert="horz" wrap="square"/>
        <a:lstStyle/>
        <a:p>
          <a:pPr>
            <a:lnSpc>
              <a:spcPct val="100000"/>
            </a:lnSpc>
            <a:spcBef>
              <a:spcPct val="0"/>
            </a:spcBef>
            <a:spcAft>
              <a:spcPct val="35000"/>
            </a:spcAft>
          </a:pPr>
          <a:r>
            <a:rPr lang="en-US"/>
            <a:t>Sentiment Analysis</a:t>
          </a:r>
        </a:p>
      </dgm:t>
    </dgm:pt>
    <dgm:pt modelId="{9F4409B3-C715-4267-BBEF-449D5FAA8A48}" type="parTrans" cxnId="{053A9C32-19E1-4C08-A767-FCBED275A780}">
      <dgm:prSet/>
      <dgm:spPr/>
    </dgm:pt>
    <dgm:pt modelId="{05DCDCB9-9814-4BBF-B6FE-9E1D5698DCE4}" type="sibTrans" cxnId="{053A9C32-19E1-4C08-A767-FCBED275A780}">
      <dgm:prSet/>
      <dgm:spPr/>
    </dgm:pt>
    <dgm:pt modelId="{C8678F7E-B678-497A-8DE9-36DAA00C3AE3}">
      <dgm:prSet phldr="0" custT="0"/>
      <dgm:spPr/>
      <dgm:t>
        <a:bodyPr vert="horz" wrap="square"/>
        <a:lstStyle/>
        <a:p>
          <a:pPr>
            <a:lnSpc>
              <a:spcPct val="100000"/>
            </a:lnSpc>
            <a:spcBef>
              <a:spcPct val="0"/>
            </a:spcBef>
            <a:spcAft>
              <a:spcPct val="35000"/>
            </a:spcAft>
          </a:pPr>
          <a:r>
            <a:rPr lang="en-US"/>
            <a:t>Text Classification</a:t>
          </a:r>
        </a:p>
      </dgm:t>
    </dgm:pt>
    <dgm:pt modelId="{700C1F47-7868-43F8-A22C-9790864DF9E1}" type="parTrans" cxnId="{1F0580AD-A722-4775-A7CB-9D880B77DFB2}">
      <dgm:prSet/>
      <dgm:spPr/>
    </dgm:pt>
    <dgm:pt modelId="{F772BB00-E02F-4E77-83F4-175D01E1BD5E}" type="sibTrans" cxnId="{1F0580AD-A722-4775-A7CB-9D880B77DFB2}">
      <dgm:prSet/>
      <dgm:spPr/>
    </dgm:pt>
    <dgm:pt modelId="{50929F73-74CE-4069-ACBB-E7DA34570605}">
      <dgm:prSet phldr="0" custT="0"/>
      <dgm:spPr/>
      <dgm:t>
        <a:bodyPr vert="horz" wrap="square"/>
        <a:lstStyle/>
        <a:p>
          <a:pPr>
            <a:lnSpc>
              <a:spcPct val="100000"/>
            </a:lnSpc>
            <a:spcBef>
              <a:spcPct val="0"/>
            </a:spcBef>
            <a:spcAft>
              <a:spcPct val="35000"/>
            </a:spcAft>
          </a:pPr>
          <a:r>
            <a:rPr lang="en-US"/>
            <a:t>Keyword Extraction</a:t>
          </a:r>
        </a:p>
      </dgm:t>
    </dgm:pt>
    <dgm:pt modelId="{B7BF2A6A-3B2D-4411-85CE-E5A6355CB86D}" type="parTrans" cxnId="{C84C9068-B52E-448F-A074-4CA60FFC2101}">
      <dgm:prSet/>
      <dgm:spPr/>
    </dgm:pt>
    <dgm:pt modelId="{2D5AE898-AF6A-4078-86F5-CBA006338A6B}" type="sibTrans" cxnId="{C84C9068-B52E-448F-A074-4CA60FFC2101}">
      <dgm:prSet/>
      <dgm:spPr/>
    </dgm:pt>
    <dgm:pt modelId="{4AAA47A4-5350-49EF-A358-CEF39439656E}" type="pres">
      <dgm:prSet presAssocID="{8C3DDEC3-4410-4A7B-A08D-B4E398522276}" presName="hierChild1" presStyleCnt="0">
        <dgm:presLayoutVars>
          <dgm:orgChart val="1"/>
          <dgm:chPref val="1"/>
          <dgm:dir/>
          <dgm:animOne val="branch"/>
          <dgm:animLvl val="lvl"/>
          <dgm:resizeHandles/>
        </dgm:presLayoutVars>
      </dgm:prSet>
      <dgm:spPr/>
    </dgm:pt>
    <dgm:pt modelId="{8DDA6D3B-68E3-4995-8AF6-03ECBB1B9628}" type="pres">
      <dgm:prSet presAssocID="{F970B406-3137-445F-A047-960BE6F8F548}" presName="hierRoot1" presStyleCnt="0">
        <dgm:presLayoutVars>
          <dgm:hierBranch val="init"/>
        </dgm:presLayoutVars>
      </dgm:prSet>
      <dgm:spPr/>
    </dgm:pt>
    <dgm:pt modelId="{64B16451-C2DC-4417-9BAC-91F6654CD5B4}" type="pres">
      <dgm:prSet presAssocID="{F970B406-3137-445F-A047-960BE6F8F548}" presName="rootComposite1" presStyleCnt="0"/>
      <dgm:spPr/>
    </dgm:pt>
    <dgm:pt modelId="{1515E5E4-1270-4118-8CC5-8D9445B024E5}" type="pres">
      <dgm:prSet presAssocID="{F970B406-3137-445F-A047-960BE6F8F548}" presName="rootText1" presStyleLbl="node0" presStyleIdx="0" presStyleCnt="1">
        <dgm:presLayoutVars>
          <dgm:chPref val="3"/>
        </dgm:presLayoutVars>
      </dgm:prSet>
      <dgm:spPr/>
    </dgm:pt>
    <dgm:pt modelId="{789CF449-AFEE-4D02-A8F1-CC9ACB9BA7FB}" type="pres">
      <dgm:prSet presAssocID="{F970B406-3137-445F-A047-960BE6F8F548}" presName="rootConnector1" presStyleLbl="node1" presStyleIdx="0" presStyleCnt="0"/>
      <dgm:spPr/>
    </dgm:pt>
    <dgm:pt modelId="{32875937-D71C-4098-90F5-A88D2800FBD9}" type="pres">
      <dgm:prSet presAssocID="{F970B406-3137-445F-A047-960BE6F8F548}" presName="hierChild2" presStyleCnt="0"/>
      <dgm:spPr/>
    </dgm:pt>
    <dgm:pt modelId="{EACB97AF-EF1C-4483-8DEE-42EB9AC4C2C7}" type="pres">
      <dgm:prSet presAssocID="{0F1D7D4E-BD8E-43C1-8F99-ED496D7A9BB4}" presName="Name37" presStyleLbl="parChTrans1D2" presStyleIdx="0" presStyleCnt="6"/>
      <dgm:spPr/>
    </dgm:pt>
    <dgm:pt modelId="{34B159A1-36BC-4EA8-8FD9-7A753CDCB897}" type="pres">
      <dgm:prSet presAssocID="{2199E590-A466-443A-B43D-5CA7DA30B3AC}" presName="hierRoot2" presStyleCnt="0">
        <dgm:presLayoutVars>
          <dgm:hierBranch val="init"/>
        </dgm:presLayoutVars>
      </dgm:prSet>
      <dgm:spPr/>
    </dgm:pt>
    <dgm:pt modelId="{E5A081CC-CCED-40CA-A727-569DA46EF21D}" type="pres">
      <dgm:prSet presAssocID="{2199E590-A466-443A-B43D-5CA7DA30B3AC}" presName="rootComposite" presStyleCnt="0"/>
      <dgm:spPr/>
    </dgm:pt>
    <dgm:pt modelId="{08A419FC-B6EA-4971-9F4D-63E8BAFEB4BA}" type="pres">
      <dgm:prSet presAssocID="{2199E590-A466-443A-B43D-5CA7DA30B3AC}" presName="rootText" presStyleLbl="node2" presStyleIdx="0" presStyleCnt="6">
        <dgm:presLayoutVars>
          <dgm:chPref val="3"/>
        </dgm:presLayoutVars>
      </dgm:prSet>
      <dgm:spPr/>
    </dgm:pt>
    <dgm:pt modelId="{DFAA58C0-5B90-4501-945B-6F719BFC4248}" type="pres">
      <dgm:prSet presAssocID="{2199E590-A466-443A-B43D-5CA7DA30B3AC}" presName="rootConnector" presStyleLbl="node2" presStyleIdx="0" presStyleCnt="6"/>
      <dgm:spPr/>
    </dgm:pt>
    <dgm:pt modelId="{C47D1690-2690-4C50-8A39-2AD857E3E4FA}" type="pres">
      <dgm:prSet presAssocID="{2199E590-A466-443A-B43D-5CA7DA30B3AC}" presName="hierChild4" presStyleCnt="0"/>
      <dgm:spPr/>
    </dgm:pt>
    <dgm:pt modelId="{C8CEE75D-FAF2-4C67-A5D4-CF352336D68B}" type="pres">
      <dgm:prSet presAssocID="{2199E590-A466-443A-B43D-5CA7DA30B3AC}" presName="hierChild5" presStyleCnt="0"/>
      <dgm:spPr/>
    </dgm:pt>
    <dgm:pt modelId="{85275E37-EDB4-42DB-9F7C-0405EE14CD3E}" type="pres">
      <dgm:prSet presAssocID="{23807AB1-DC98-4728-B950-3E60934BA7E7}" presName="Name37" presStyleLbl="parChTrans1D2" presStyleIdx="1" presStyleCnt="6"/>
      <dgm:spPr/>
    </dgm:pt>
    <dgm:pt modelId="{326A2CB9-31D7-4C02-B8CE-BA314161EA88}" type="pres">
      <dgm:prSet presAssocID="{6410EC4E-6AA5-4F68-930B-680495E49A0B}" presName="hierRoot2" presStyleCnt="0">
        <dgm:presLayoutVars>
          <dgm:hierBranch val="init"/>
        </dgm:presLayoutVars>
      </dgm:prSet>
      <dgm:spPr/>
    </dgm:pt>
    <dgm:pt modelId="{5227F60A-3C92-4825-BC4C-F2195BAF27DD}" type="pres">
      <dgm:prSet presAssocID="{6410EC4E-6AA5-4F68-930B-680495E49A0B}" presName="rootComposite" presStyleCnt="0"/>
      <dgm:spPr/>
    </dgm:pt>
    <dgm:pt modelId="{BD7D9DA7-696B-4A6B-A45A-10F2CBBC4D2E}" type="pres">
      <dgm:prSet presAssocID="{6410EC4E-6AA5-4F68-930B-680495E49A0B}" presName="rootText" presStyleLbl="node2" presStyleIdx="1" presStyleCnt="6">
        <dgm:presLayoutVars>
          <dgm:chPref val="3"/>
        </dgm:presLayoutVars>
      </dgm:prSet>
      <dgm:spPr/>
    </dgm:pt>
    <dgm:pt modelId="{A74E8E25-7D4A-457A-AE83-5322F2E428D3}" type="pres">
      <dgm:prSet presAssocID="{6410EC4E-6AA5-4F68-930B-680495E49A0B}" presName="rootConnector" presStyleLbl="node2" presStyleIdx="1" presStyleCnt="6"/>
      <dgm:spPr/>
    </dgm:pt>
    <dgm:pt modelId="{1DFBE672-CEFE-4DB3-86A1-5AEDAC3C31C8}" type="pres">
      <dgm:prSet presAssocID="{6410EC4E-6AA5-4F68-930B-680495E49A0B}" presName="hierChild4" presStyleCnt="0"/>
      <dgm:spPr/>
    </dgm:pt>
    <dgm:pt modelId="{24413679-0693-407D-9149-6A3E4FF105B4}" type="pres">
      <dgm:prSet presAssocID="{6410EC4E-6AA5-4F68-930B-680495E49A0B}" presName="hierChild5" presStyleCnt="0"/>
      <dgm:spPr/>
    </dgm:pt>
    <dgm:pt modelId="{3136489A-7798-404C-9860-544640BDED03}" type="pres">
      <dgm:prSet presAssocID="{247CB0BA-0B65-47EA-BEEC-96F9938A5E20}" presName="Name37" presStyleLbl="parChTrans1D2" presStyleIdx="2" presStyleCnt="6"/>
      <dgm:spPr/>
    </dgm:pt>
    <dgm:pt modelId="{BF40BE47-93C1-4B36-876F-43598EF86109}" type="pres">
      <dgm:prSet presAssocID="{665F92F2-5610-40E7-BB12-9AB57831ED80}" presName="hierRoot2" presStyleCnt="0">
        <dgm:presLayoutVars>
          <dgm:hierBranch val="init"/>
        </dgm:presLayoutVars>
      </dgm:prSet>
      <dgm:spPr/>
    </dgm:pt>
    <dgm:pt modelId="{375718C6-A093-42E9-956A-41EDF0AA57AA}" type="pres">
      <dgm:prSet presAssocID="{665F92F2-5610-40E7-BB12-9AB57831ED80}" presName="rootComposite" presStyleCnt="0"/>
      <dgm:spPr/>
    </dgm:pt>
    <dgm:pt modelId="{5E20498F-3DD4-4FE4-B860-52B609EF7878}" type="pres">
      <dgm:prSet presAssocID="{665F92F2-5610-40E7-BB12-9AB57831ED80}" presName="rootText" presStyleLbl="node2" presStyleIdx="2" presStyleCnt="6">
        <dgm:presLayoutVars>
          <dgm:chPref val="3"/>
        </dgm:presLayoutVars>
      </dgm:prSet>
      <dgm:spPr/>
    </dgm:pt>
    <dgm:pt modelId="{A3FFD74B-A687-44A1-BD76-0ED3A18E1A2B}" type="pres">
      <dgm:prSet presAssocID="{665F92F2-5610-40E7-BB12-9AB57831ED80}" presName="rootConnector" presStyleLbl="node2" presStyleIdx="2" presStyleCnt="6"/>
      <dgm:spPr/>
    </dgm:pt>
    <dgm:pt modelId="{FC45E665-3011-485C-8196-2B99DA54CF31}" type="pres">
      <dgm:prSet presAssocID="{665F92F2-5610-40E7-BB12-9AB57831ED80}" presName="hierChild4" presStyleCnt="0"/>
      <dgm:spPr/>
    </dgm:pt>
    <dgm:pt modelId="{4C00A962-2061-4805-A637-4788625E7FE2}" type="pres">
      <dgm:prSet presAssocID="{665F92F2-5610-40E7-BB12-9AB57831ED80}" presName="hierChild5" presStyleCnt="0"/>
      <dgm:spPr/>
    </dgm:pt>
    <dgm:pt modelId="{93BB34C0-7EF8-4435-9C89-07F34B36D1A4}" type="pres">
      <dgm:prSet presAssocID="{9F4409B3-C715-4267-BBEF-449D5FAA8A48}" presName="Name37" presStyleLbl="parChTrans1D2" presStyleIdx="3" presStyleCnt="6"/>
      <dgm:spPr/>
    </dgm:pt>
    <dgm:pt modelId="{7C40E151-6BB2-467D-BFC1-917BF109CB45}" type="pres">
      <dgm:prSet presAssocID="{ED6B6341-2DCA-474B-9B2D-C59F30D677C1}" presName="hierRoot2" presStyleCnt="0">
        <dgm:presLayoutVars>
          <dgm:hierBranch val="init"/>
        </dgm:presLayoutVars>
      </dgm:prSet>
      <dgm:spPr/>
    </dgm:pt>
    <dgm:pt modelId="{4B26D952-A2C8-4622-AC54-D2E8467FD604}" type="pres">
      <dgm:prSet presAssocID="{ED6B6341-2DCA-474B-9B2D-C59F30D677C1}" presName="rootComposite" presStyleCnt="0"/>
      <dgm:spPr/>
    </dgm:pt>
    <dgm:pt modelId="{B47B1E2B-C88A-415C-AA41-734A9D2A78F4}" type="pres">
      <dgm:prSet presAssocID="{ED6B6341-2DCA-474B-9B2D-C59F30D677C1}" presName="rootText" presStyleLbl="node2" presStyleIdx="3" presStyleCnt="6">
        <dgm:presLayoutVars>
          <dgm:chPref val="3"/>
        </dgm:presLayoutVars>
      </dgm:prSet>
      <dgm:spPr/>
    </dgm:pt>
    <dgm:pt modelId="{CC9A6AC4-A2FA-4107-9248-E1979C4A4736}" type="pres">
      <dgm:prSet presAssocID="{ED6B6341-2DCA-474B-9B2D-C59F30D677C1}" presName="rootConnector" presStyleLbl="node2" presStyleIdx="3" presStyleCnt="6"/>
      <dgm:spPr/>
    </dgm:pt>
    <dgm:pt modelId="{F4025095-BE84-4257-AF89-1A4DC54E13D6}" type="pres">
      <dgm:prSet presAssocID="{ED6B6341-2DCA-474B-9B2D-C59F30D677C1}" presName="hierChild4" presStyleCnt="0"/>
      <dgm:spPr/>
    </dgm:pt>
    <dgm:pt modelId="{DB715955-DC6F-48A1-B2BE-4D8F9063B4B9}" type="pres">
      <dgm:prSet presAssocID="{ED6B6341-2DCA-474B-9B2D-C59F30D677C1}" presName="hierChild5" presStyleCnt="0"/>
      <dgm:spPr/>
    </dgm:pt>
    <dgm:pt modelId="{7D392C90-DA66-4733-BA27-0D413CA089E2}" type="pres">
      <dgm:prSet presAssocID="{700C1F47-7868-43F8-A22C-9790864DF9E1}" presName="Name37" presStyleLbl="parChTrans1D2" presStyleIdx="4" presStyleCnt="6"/>
      <dgm:spPr/>
    </dgm:pt>
    <dgm:pt modelId="{0BA9D9B8-3808-4C54-A005-DD70937CCCF3}" type="pres">
      <dgm:prSet presAssocID="{C8678F7E-B678-497A-8DE9-36DAA00C3AE3}" presName="hierRoot2" presStyleCnt="0">
        <dgm:presLayoutVars>
          <dgm:hierBranch val="init"/>
        </dgm:presLayoutVars>
      </dgm:prSet>
      <dgm:spPr/>
    </dgm:pt>
    <dgm:pt modelId="{C9B0FE5C-2C14-404C-84C8-0D0C812CDD4D}" type="pres">
      <dgm:prSet presAssocID="{C8678F7E-B678-497A-8DE9-36DAA00C3AE3}" presName="rootComposite" presStyleCnt="0"/>
      <dgm:spPr/>
    </dgm:pt>
    <dgm:pt modelId="{CFFF6EA4-AE2F-44FA-BA2F-2CCB4C14E8CB}" type="pres">
      <dgm:prSet presAssocID="{C8678F7E-B678-497A-8DE9-36DAA00C3AE3}" presName="rootText" presStyleLbl="node2" presStyleIdx="4" presStyleCnt="6">
        <dgm:presLayoutVars>
          <dgm:chPref val="3"/>
        </dgm:presLayoutVars>
      </dgm:prSet>
      <dgm:spPr/>
    </dgm:pt>
    <dgm:pt modelId="{1782A6A0-BC09-4455-A05A-5BE5359716B6}" type="pres">
      <dgm:prSet presAssocID="{C8678F7E-B678-497A-8DE9-36DAA00C3AE3}" presName="rootConnector" presStyleLbl="node2" presStyleIdx="4" presStyleCnt="6"/>
      <dgm:spPr/>
    </dgm:pt>
    <dgm:pt modelId="{FCAE662C-ABED-456C-9496-67403396E5BD}" type="pres">
      <dgm:prSet presAssocID="{C8678F7E-B678-497A-8DE9-36DAA00C3AE3}" presName="hierChild4" presStyleCnt="0"/>
      <dgm:spPr/>
    </dgm:pt>
    <dgm:pt modelId="{A5604DAD-AF94-4846-98A8-62AE78390433}" type="pres">
      <dgm:prSet presAssocID="{C8678F7E-B678-497A-8DE9-36DAA00C3AE3}" presName="hierChild5" presStyleCnt="0"/>
      <dgm:spPr/>
    </dgm:pt>
    <dgm:pt modelId="{CAA00D03-49EC-45DB-B62B-DB481D8F2146}" type="pres">
      <dgm:prSet presAssocID="{B7BF2A6A-3B2D-4411-85CE-E5A6355CB86D}" presName="Name37" presStyleLbl="parChTrans1D2" presStyleIdx="5" presStyleCnt="6"/>
      <dgm:spPr/>
    </dgm:pt>
    <dgm:pt modelId="{FBC894EC-A25A-41E1-9A3D-50EC9A6BA5A9}" type="pres">
      <dgm:prSet presAssocID="{50929F73-74CE-4069-ACBB-E7DA34570605}" presName="hierRoot2" presStyleCnt="0">
        <dgm:presLayoutVars>
          <dgm:hierBranch val="init"/>
        </dgm:presLayoutVars>
      </dgm:prSet>
      <dgm:spPr/>
    </dgm:pt>
    <dgm:pt modelId="{CF0A358A-0190-4C0A-AE87-688291BFB7CF}" type="pres">
      <dgm:prSet presAssocID="{50929F73-74CE-4069-ACBB-E7DA34570605}" presName="rootComposite" presStyleCnt="0"/>
      <dgm:spPr/>
    </dgm:pt>
    <dgm:pt modelId="{6354CE7B-A3A2-43A6-90B5-7932959CB7FC}" type="pres">
      <dgm:prSet presAssocID="{50929F73-74CE-4069-ACBB-E7DA34570605}" presName="rootText" presStyleLbl="node2" presStyleIdx="5" presStyleCnt="6">
        <dgm:presLayoutVars>
          <dgm:chPref val="3"/>
        </dgm:presLayoutVars>
      </dgm:prSet>
      <dgm:spPr/>
    </dgm:pt>
    <dgm:pt modelId="{E2BB6C98-E3FD-42BF-9811-7982E1877FFD}" type="pres">
      <dgm:prSet presAssocID="{50929F73-74CE-4069-ACBB-E7DA34570605}" presName="rootConnector" presStyleLbl="node2" presStyleIdx="5" presStyleCnt="6"/>
      <dgm:spPr/>
    </dgm:pt>
    <dgm:pt modelId="{353411F0-7ACF-4AA7-B1E3-80FD60372825}" type="pres">
      <dgm:prSet presAssocID="{50929F73-74CE-4069-ACBB-E7DA34570605}" presName="hierChild4" presStyleCnt="0"/>
      <dgm:spPr/>
    </dgm:pt>
    <dgm:pt modelId="{C1F16B8B-5FA4-461B-94E4-0F0FBAFEFE4B}" type="pres">
      <dgm:prSet presAssocID="{50929F73-74CE-4069-ACBB-E7DA34570605}" presName="hierChild5" presStyleCnt="0"/>
      <dgm:spPr/>
    </dgm:pt>
    <dgm:pt modelId="{DCAA7FC3-CDCF-4C22-A217-614838EE6C30}" type="pres">
      <dgm:prSet presAssocID="{F970B406-3137-445F-A047-960BE6F8F548}" presName="hierChild3" presStyleCnt="0"/>
      <dgm:spPr/>
    </dgm:pt>
  </dgm:ptLst>
  <dgm:cxnLst>
    <dgm:cxn modelId="{F648AF07-0378-4E8D-9687-4AAA77026D39}" type="presOf" srcId="{8C3DDEC3-4410-4A7B-A08D-B4E398522276}" destId="{4AAA47A4-5350-49EF-A358-CEF39439656E}" srcOrd="0" destOrd="0" presId="urn:microsoft.com/office/officeart/2005/8/layout/orgChart1#1"/>
    <dgm:cxn modelId="{18B6180D-D1B1-4599-A773-87B0C7BEEA89}" type="presOf" srcId="{C8678F7E-B678-497A-8DE9-36DAA00C3AE3}" destId="{1782A6A0-BC09-4455-A05A-5BE5359716B6}" srcOrd="2" destOrd="0" presId="urn:microsoft.com/office/officeart/2005/8/layout/orgChart1#1"/>
    <dgm:cxn modelId="{4308BA12-04B7-4827-86C9-4BE4DCCA0AFF}" type="presOf" srcId="{2199E590-A466-443A-B43D-5CA7DA30B3AC}" destId="{E5A081CC-CCED-40CA-A727-569DA46EF21D}" srcOrd="0" destOrd="0" presId="urn:microsoft.com/office/officeart/2005/8/layout/orgChart1#1"/>
    <dgm:cxn modelId="{C6A76E25-A978-475F-A43E-A32DC0601A34}" type="presOf" srcId="{F970B406-3137-445F-A047-960BE6F8F548}" destId="{64B16451-C2DC-4417-9BAC-91F6654CD5B4}" srcOrd="0" destOrd="0" presId="urn:microsoft.com/office/officeart/2005/8/layout/orgChart1#1"/>
    <dgm:cxn modelId="{34A53828-E61C-447C-A5A1-412038F1BF76}" type="presOf" srcId="{247CB0BA-0B65-47EA-BEEC-96F9938A5E20}" destId="{3136489A-7798-404C-9860-544640BDED03}" srcOrd="0" destOrd="0" presId="urn:microsoft.com/office/officeart/2005/8/layout/orgChart1#1"/>
    <dgm:cxn modelId="{B6567B2C-B3F6-4416-903F-F77F3F9AEDC9}" type="presOf" srcId="{2199E590-A466-443A-B43D-5CA7DA30B3AC}" destId="{08A419FC-B6EA-4971-9F4D-63E8BAFEB4BA}" srcOrd="1" destOrd="0" presId="urn:microsoft.com/office/officeart/2005/8/layout/orgChart1#1"/>
    <dgm:cxn modelId="{053A9C32-19E1-4C08-A767-FCBED275A780}" srcId="{F970B406-3137-445F-A047-960BE6F8F548}" destId="{ED6B6341-2DCA-474B-9B2D-C59F30D677C1}" srcOrd="3" destOrd="0" parTransId="{9F4409B3-C715-4267-BBEF-449D5FAA8A48}" sibTransId="{05DCDCB9-9814-4BBF-B6FE-9E1D5698DCE4}"/>
    <dgm:cxn modelId="{221E2A37-F22B-4CDE-A696-B4E236272D20}" type="presOf" srcId="{C8678F7E-B678-497A-8DE9-36DAA00C3AE3}" destId="{CFFF6EA4-AE2F-44FA-BA2F-2CCB4C14E8CB}" srcOrd="1" destOrd="0" presId="urn:microsoft.com/office/officeart/2005/8/layout/orgChart1#1"/>
    <dgm:cxn modelId="{538B2C53-EF76-42BA-910E-E2E6CD16F8B0}" srcId="{F970B406-3137-445F-A047-960BE6F8F548}" destId="{6410EC4E-6AA5-4F68-930B-680495E49A0B}" srcOrd="1" destOrd="0" parTransId="{23807AB1-DC98-4728-B950-3E60934BA7E7}" sibTransId="{B19E9109-E222-453D-A601-BD15100C2B8F}"/>
    <dgm:cxn modelId="{A8AEED5A-9BB6-411A-804E-B6B35AB5FC6A}" type="presOf" srcId="{50929F73-74CE-4069-ACBB-E7DA34570605}" destId="{CF0A358A-0190-4C0A-AE87-688291BFB7CF}" srcOrd="0" destOrd="0" presId="urn:microsoft.com/office/officeart/2005/8/layout/orgChart1#1"/>
    <dgm:cxn modelId="{244D8164-F477-420E-B7F0-6AF7C041F5A6}" type="presOf" srcId="{ED6B6341-2DCA-474B-9B2D-C59F30D677C1}" destId="{B47B1E2B-C88A-415C-AA41-734A9D2A78F4}" srcOrd="1" destOrd="0" presId="urn:microsoft.com/office/officeart/2005/8/layout/orgChart1#1"/>
    <dgm:cxn modelId="{C84C9068-B52E-448F-A074-4CA60FFC2101}" srcId="{F970B406-3137-445F-A047-960BE6F8F548}" destId="{50929F73-74CE-4069-ACBB-E7DA34570605}" srcOrd="5" destOrd="0" parTransId="{B7BF2A6A-3B2D-4411-85CE-E5A6355CB86D}" sibTransId="{2D5AE898-AF6A-4078-86F5-CBA006338A6B}"/>
    <dgm:cxn modelId="{605E516E-3669-4093-9487-EED5470C2EA3}" type="presOf" srcId="{9F4409B3-C715-4267-BBEF-449D5FAA8A48}" destId="{93BB34C0-7EF8-4435-9C89-07F34B36D1A4}" srcOrd="0" destOrd="0" presId="urn:microsoft.com/office/officeart/2005/8/layout/orgChart1#1"/>
    <dgm:cxn modelId="{EB3E7173-B228-42A7-9514-D9EDDB7EF0E4}" type="presOf" srcId="{ED6B6341-2DCA-474B-9B2D-C59F30D677C1}" destId="{4B26D952-A2C8-4622-AC54-D2E8467FD604}" srcOrd="0" destOrd="0" presId="urn:microsoft.com/office/officeart/2005/8/layout/orgChart1#1"/>
    <dgm:cxn modelId="{654EEF75-5380-40A0-BF89-BA50728D9548}" srcId="{8C3DDEC3-4410-4A7B-A08D-B4E398522276}" destId="{F970B406-3137-445F-A047-960BE6F8F548}" srcOrd="0" destOrd="0" parTransId="{DE9920FC-ADF2-43FC-8D66-AB16E15737FC}" sibTransId="{A6DBE21A-0230-45DE-A17E-9E9D78667511}"/>
    <dgm:cxn modelId="{E0B19479-557E-4FA7-83E4-4C9E83BA0DFB}" type="presOf" srcId="{F970B406-3137-445F-A047-960BE6F8F548}" destId="{789CF449-AFEE-4D02-A8F1-CC9ACB9BA7FB}" srcOrd="2" destOrd="0" presId="urn:microsoft.com/office/officeart/2005/8/layout/orgChart1#1"/>
    <dgm:cxn modelId="{074C7D7B-B3EC-4224-A416-AF8422230452}" type="presOf" srcId="{50929F73-74CE-4069-ACBB-E7DA34570605}" destId="{E2BB6C98-E3FD-42BF-9811-7982E1877FFD}" srcOrd="2" destOrd="0" presId="urn:microsoft.com/office/officeart/2005/8/layout/orgChart1#1"/>
    <dgm:cxn modelId="{970EFC80-D9C5-4EC3-A8AC-21016BB0E34A}" type="presOf" srcId="{C8678F7E-B678-497A-8DE9-36DAA00C3AE3}" destId="{C9B0FE5C-2C14-404C-84C8-0D0C812CDD4D}" srcOrd="0" destOrd="0" presId="urn:microsoft.com/office/officeart/2005/8/layout/orgChart1#1"/>
    <dgm:cxn modelId="{C909A888-4A81-433C-BF57-F7AA270977C5}" type="presOf" srcId="{700C1F47-7868-43F8-A22C-9790864DF9E1}" destId="{7D392C90-DA66-4733-BA27-0D413CA089E2}" srcOrd="0" destOrd="0" presId="urn:microsoft.com/office/officeart/2005/8/layout/orgChart1#1"/>
    <dgm:cxn modelId="{58A41C8E-046F-424B-897E-0AF33904DBD9}" type="presOf" srcId="{665F92F2-5610-40E7-BB12-9AB57831ED80}" destId="{5E20498F-3DD4-4FE4-B860-52B609EF7878}" srcOrd="1" destOrd="0" presId="urn:microsoft.com/office/officeart/2005/8/layout/orgChart1#1"/>
    <dgm:cxn modelId="{B7155197-AF06-4FDA-B8B7-352CFE617B50}" type="presOf" srcId="{6410EC4E-6AA5-4F68-930B-680495E49A0B}" destId="{A74E8E25-7D4A-457A-AE83-5322F2E428D3}" srcOrd="2" destOrd="0" presId="urn:microsoft.com/office/officeart/2005/8/layout/orgChart1#1"/>
    <dgm:cxn modelId="{80AE6D9F-39EC-4B92-ADFE-648F805DF9AD}" type="presOf" srcId="{6410EC4E-6AA5-4F68-930B-680495E49A0B}" destId="{BD7D9DA7-696B-4A6B-A45A-10F2CBBC4D2E}" srcOrd="1" destOrd="0" presId="urn:microsoft.com/office/officeart/2005/8/layout/orgChart1#1"/>
    <dgm:cxn modelId="{1F0580AD-A722-4775-A7CB-9D880B77DFB2}" srcId="{F970B406-3137-445F-A047-960BE6F8F548}" destId="{C8678F7E-B678-497A-8DE9-36DAA00C3AE3}" srcOrd="4" destOrd="0" parTransId="{700C1F47-7868-43F8-A22C-9790864DF9E1}" sibTransId="{F772BB00-E02F-4E77-83F4-175D01E1BD5E}"/>
    <dgm:cxn modelId="{C7889EB5-5F8A-4A95-AE8E-A034B00B2B1B}" type="presOf" srcId="{B7BF2A6A-3B2D-4411-85CE-E5A6355CB86D}" destId="{CAA00D03-49EC-45DB-B62B-DB481D8F2146}" srcOrd="0" destOrd="0" presId="urn:microsoft.com/office/officeart/2005/8/layout/orgChart1#1"/>
    <dgm:cxn modelId="{E555BEB6-3E41-4F7A-B260-5657B90C8B98}" type="presOf" srcId="{F970B406-3137-445F-A047-960BE6F8F548}" destId="{1515E5E4-1270-4118-8CC5-8D9445B024E5}" srcOrd="1" destOrd="0" presId="urn:microsoft.com/office/officeart/2005/8/layout/orgChart1#1"/>
    <dgm:cxn modelId="{897BC0B8-BA4D-44E8-A068-DABFC190DA36}" type="presOf" srcId="{23807AB1-DC98-4728-B950-3E60934BA7E7}" destId="{85275E37-EDB4-42DB-9F7C-0405EE14CD3E}" srcOrd="0" destOrd="0" presId="urn:microsoft.com/office/officeart/2005/8/layout/orgChart1#1"/>
    <dgm:cxn modelId="{908D71B9-82E5-4E52-AAEF-95AC8DB173A8}" type="presOf" srcId="{6410EC4E-6AA5-4F68-930B-680495E49A0B}" destId="{5227F60A-3C92-4825-BC4C-F2195BAF27DD}" srcOrd="0" destOrd="0" presId="urn:microsoft.com/office/officeart/2005/8/layout/orgChart1#1"/>
    <dgm:cxn modelId="{E1D467C7-C447-40F1-A136-EFD211EB91E8}" type="presOf" srcId="{2199E590-A466-443A-B43D-5CA7DA30B3AC}" destId="{DFAA58C0-5B90-4501-945B-6F719BFC4248}" srcOrd="2" destOrd="0" presId="urn:microsoft.com/office/officeart/2005/8/layout/orgChart1#1"/>
    <dgm:cxn modelId="{03653BC8-2057-4522-90EA-9C750DC89D7F}" type="presOf" srcId="{665F92F2-5610-40E7-BB12-9AB57831ED80}" destId="{375718C6-A093-42E9-956A-41EDF0AA57AA}" srcOrd="0" destOrd="0" presId="urn:microsoft.com/office/officeart/2005/8/layout/orgChart1#1"/>
    <dgm:cxn modelId="{3C959DD4-3E76-4501-A243-6D776DE8C0C3}" srcId="{F970B406-3137-445F-A047-960BE6F8F548}" destId="{665F92F2-5610-40E7-BB12-9AB57831ED80}" srcOrd="2" destOrd="0" parTransId="{247CB0BA-0B65-47EA-BEEC-96F9938A5E20}" sibTransId="{211D9019-7CFE-48BD-BCA0-B88EB19E3C71}"/>
    <dgm:cxn modelId="{3DF10DDA-EC08-484B-9455-755E4F5B1779}" srcId="{F970B406-3137-445F-A047-960BE6F8F548}" destId="{2199E590-A466-443A-B43D-5CA7DA30B3AC}" srcOrd="0" destOrd="0" parTransId="{0F1D7D4E-BD8E-43C1-8F99-ED496D7A9BB4}" sibTransId="{49BEF6ED-1342-41F0-807C-53E1906472B9}"/>
    <dgm:cxn modelId="{330373E5-EFBC-42D3-B5F1-4E6352FA2955}" type="presOf" srcId="{50929F73-74CE-4069-ACBB-E7DA34570605}" destId="{6354CE7B-A3A2-43A6-90B5-7932959CB7FC}" srcOrd="1" destOrd="0" presId="urn:microsoft.com/office/officeart/2005/8/layout/orgChart1#1"/>
    <dgm:cxn modelId="{CD1D4BF2-F57D-413B-8F7D-D8B1E587E20E}" type="presOf" srcId="{0F1D7D4E-BD8E-43C1-8F99-ED496D7A9BB4}" destId="{EACB97AF-EF1C-4483-8DEE-42EB9AC4C2C7}" srcOrd="0" destOrd="0" presId="urn:microsoft.com/office/officeart/2005/8/layout/orgChart1#1"/>
    <dgm:cxn modelId="{4C9877F5-663D-4C53-B3B4-ABF1D8FFA10E}" type="presOf" srcId="{ED6B6341-2DCA-474B-9B2D-C59F30D677C1}" destId="{CC9A6AC4-A2FA-4107-9248-E1979C4A4736}" srcOrd="2" destOrd="0" presId="urn:microsoft.com/office/officeart/2005/8/layout/orgChart1#1"/>
    <dgm:cxn modelId="{D161D4FF-4A67-4AA9-B9AA-A1A4BA65376E}" type="presOf" srcId="{665F92F2-5610-40E7-BB12-9AB57831ED80}" destId="{A3FFD74B-A687-44A1-BD76-0ED3A18E1A2B}" srcOrd="2" destOrd="0" presId="urn:microsoft.com/office/officeart/2005/8/layout/orgChart1#1"/>
    <dgm:cxn modelId="{D342E05A-D178-47B5-96D2-C9AD69C7BD2A}" type="presParOf" srcId="{4AAA47A4-5350-49EF-A358-CEF39439656E}" destId="{8DDA6D3B-68E3-4995-8AF6-03ECBB1B9628}" srcOrd="0" destOrd="0" presId="urn:microsoft.com/office/officeart/2005/8/layout/orgChart1#1"/>
    <dgm:cxn modelId="{E2980C57-F583-40CC-AE7F-699CE9EE77C8}" type="presParOf" srcId="{8DDA6D3B-68E3-4995-8AF6-03ECBB1B9628}" destId="{64B16451-C2DC-4417-9BAC-91F6654CD5B4}" srcOrd="0" destOrd="0" presId="urn:microsoft.com/office/officeart/2005/8/layout/orgChart1#1"/>
    <dgm:cxn modelId="{CD98E8B7-869E-4A0D-A1DC-09D47276A693}" type="presParOf" srcId="{64B16451-C2DC-4417-9BAC-91F6654CD5B4}" destId="{1515E5E4-1270-4118-8CC5-8D9445B024E5}" srcOrd="0" destOrd="0" presId="urn:microsoft.com/office/officeart/2005/8/layout/orgChart1#1"/>
    <dgm:cxn modelId="{8A66651C-EBEB-4368-AE37-1AC096ACEC55}" type="presParOf" srcId="{64B16451-C2DC-4417-9BAC-91F6654CD5B4}" destId="{789CF449-AFEE-4D02-A8F1-CC9ACB9BA7FB}" srcOrd="1" destOrd="0" presId="urn:microsoft.com/office/officeart/2005/8/layout/orgChart1#1"/>
    <dgm:cxn modelId="{FBEA0FAE-0A69-48A8-BAC3-6657470D4F55}" type="presParOf" srcId="{8DDA6D3B-68E3-4995-8AF6-03ECBB1B9628}" destId="{32875937-D71C-4098-90F5-A88D2800FBD9}" srcOrd="1" destOrd="0" presId="urn:microsoft.com/office/officeart/2005/8/layout/orgChart1#1"/>
    <dgm:cxn modelId="{80FAACC5-5E58-49A6-A8FD-B7E222DA69D7}" type="presParOf" srcId="{32875937-D71C-4098-90F5-A88D2800FBD9}" destId="{EACB97AF-EF1C-4483-8DEE-42EB9AC4C2C7}" srcOrd="0" destOrd="0" presId="urn:microsoft.com/office/officeart/2005/8/layout/orgChart1#1"/>
    <dgm:cxn modelId="{B753C5EC-00EF-4FC4-870E-432BE8E60A1D}" type="presParOf" srcId="{32875937-D71C-4098-90F5-A88D2800FBD9}" destId="{34B159A1-36BC-4EA8-8FD9-7A753CDCB897}" srcOrd="1" destOrd="0" presId="urn:microsoft.com/office/officeart/2005/8/layout/orgChart1#1"/>
    <dgm:cxn modelId="{ABA6C45A-F530-41F0-B10C-CF4D0BEBA0E3}" type="presParOf" srcId="{34B159A1-36BC-4EA8-8FD9-7A753CDCB897}" destId="{E5A081CC-CCED-40CA-A727-569DA46EF21D}" srcOrd="0" destOrd="0" presId="urn:microsoft.com/office/officeart/2005/8/layout/orgChart1#1"/>
    <dgm:cxn modelId="{02E65963-53C1-45ED-A904-C1D7793D6934}" type="presParOf" srcId="{E5A081CC-CCED-40CA-A727-569DA46EF21D}" destId="{08A419FC-B6EA-4971-9F4D-63E8BAFEB4BA}" srcOrd="0" destOrd="0" presId="urn:microsoft.com/office/officeart/2005/8/layout/orgChart1#1"/>
    <dgm:cxn modelId="{C22E00CA-1521-408D-BD2F-CED55AAEC0DC}" type="presParOf" srcId="{E5A081CC-CCED-40CA-A727-569DA46EF21D}" destId="{DFAA58C0-5B90-4501-945B-6F719BFC4248}" srcOrd="1" destOrd="0" presId="urn:microsoft.com/office/officeart/2005/8/layout/orgChart1#1"/>
    <dgm:cxn modelId="{BDDEB13E-021A-4357-AAA1-EB0B25C5CBD3}" type="presParOf" srcId="{34B159A1-36BC-4EA8-8FD9-7A753CDCB897}" destId="{C47D1690-2690-4C50-8A39-2AD857E3E4FA}" srcOrd="1" destOrd="0" presId="urn:microsoft.com/office/officeart/2005/8/layout/orgChart1#1"/>
    <dgm:cxn modelId="{68A2FD64-DF73-417A-B257-077B48721871}" type="presParOf" srcId="{34B159A1-36BC-4EA8-8FD9-7A753CDCB897}" destId="{C8CEE75D-FAF2-4C67-A5D4-CF352336D68B}" srcOrd="2" destOrd="0" presId="urn:microsoft.com/office/officeart/2005/8/layout/orgChart1#1"/>
    <dgm:cxn modelId="{1939C41D-0C2A-4770-9D71-5998AB903819}" type="presParOf" srcId="{32875937-D71C-4098-90F5-A88D2800FBD9}" destId="{85275E37-EDB4-42DB-9F7C-0405EE14CD3E}" srcOrd="2" destOrd="0" presId="urn:microsoft.com/office/officeart/2005/8/layout/orgChart1#1"/>
    <dgm:cxn modelId="{A70F6FE3-B09D-42F8-8333-81EB612FAC2A}" type="presParOf" srcId="{32875937-D71C-4098-90F5-A88D2800FBD9}" destId="{326A2CB9-31D7-4C02-B8CE-BA314161EA88}" srcOrd="3" destOrd="0" presId="urn:microsoft.com/office/officeart/2005/8/layout/orgChart1#1"/>
    <dgm:cxn modelId="{7D7D1B34-EAD0-452D-A642-9ACC5C0469C4}" type="presParOf" srcId="{326A2CB9-31D7-4C02-B8CE-BA314161EA88}" destId="{5227F60A-3C92-4825-BC4C-F2195BAF27DD}" srcOrd="0" destOrd="0" presId="urn:microsoft.com/office/officeart/2005/8/layout/orgChart1#1"/>
    <dgm:cxn modelId="{8BBA60E9-D54D-4825-923F-288C87FEFE08}" type="presParOf" srcId="{5227F60A-3C92-4825-BC4C-F2195BAF27DD}" destId="{BD7D9DA7-696B-4A6B-A45A-10F2CBBC4D2E}" srcOrd="0" destOrd="0" presId="urn:microsoft.com/office/officeart/2005/8/layout/orgChart1#1"/>
    <dgm:cxn modelId="{41E80C0F-950D-4613-802F-AACE9CB4DA53}" type="presParOf" srcId="{5227F60A-3C92-4825-BC4C-F2195BAF27DD}" destId="{A74E8E25-7D4A-457A-AE83-5322F2E428D3}" srcOrd="1" destOrd="0" presId="urn:microsoft.com/office/officeart/2005/8/layout/orgChart1#1"/>
    <dgm:cxn modelId="{362752CE-54ED-4322-B712-EA1B19313D30}" type="presParOf" srcId="{326A2CB9-31D7-4C02-B8CE-BA314161EA88}" destId="{1DFBE672-CEFE-4DB3-86A1-5AEDAC3C31C8}" srcOrd="1" destOrd="0" presId="urn:microsoft.com/office/officeart/2005/8/layout/orgChart1#1"/>
    <dgm:cxn modelId="{90338C88-6349-4FD8-925A-8924E67B4F4E}" type="presParOf" srcId="{326A2CB9-31D7-4C02-B8CE-BA314161EA88}" destId="{24413679-0693-407D-9149-6A3E4FF105B4}" srcOrd="2" destOrd="0" presId="urn:microsoft.com/office/officeart/2005/8/layout/orgChart1#1"/>
    <dgm:cxn modelId="{668A0984-1A74-4D7C-AD64-B98B76509D38}" type="presParOf" srcId="{32875937-D71C-4098-90F5-A88D2800FBD9}" destId="{3136489A-7798-404C-9860-544640BDED03}" srcOrd="4" destOrd="0" presId="urn:microsoft.com/office/officeart/2005/8/layout/orgChart1#1"/>
    <dgm:cxn modelId="{DC59CFF2-6496-47FE-B0D3-D33AE5CB584B}" type="presParOf" srcId="{32875937-D71C-4098-90F5-A88D2800FBD9}" destId="{BF40BE47-93C1-4B36-876F-43598EF86109}" srcOrd="5" destOrd="0" presId="urn:microsoft.com/office/officeart/2005/8/layout/orgChart1#1"/>
    <dgm:cxn modelId="{4CA7BF91-9B1C-4F39-8EED-32EEF923CD9E}" type="presParOf" srcId="{BF40BE47-93C1-4B36-876F-43598EF86109}" destId="{375718C6-A093-42E9-956A-41EDF0AA57AA}" srcOrd="0" destOrd="0" presId="urn:microsoft.com/office/officeart/2005/8/layout/orgChart1#1"/>
    <dgm:cxn modelId="{758A59A8-05E6-4236-8BA2-59334437E354}" type="presParOf" srcId="{375718C6-A093-42E9-956A-41EDF0AA57AA}" destId="{5E20498F-3DD4-4FE4-B860-52B609EF7878}" srcOrd="0" destOrd="0" presId="urn:microsoft.com/office/officeart/2005/8/layout/orgChart1#1"/>
    <dgm:cxn modelId="{FED4624F-CFFB-44BE-968A-F78EA017A3F0}" type="presParOf" srcId="{375718C6-A093-42E9-956A-41EDF0AA57AA}" destId="{A3FFD74B-A687-44A1-BD76-0ED3A18E1A2B}" srcOrd="1" destOrd="0" presId="urn:microsoft.com/office/officeart/2005/8/layout/orgChart1#1"/>
    <dgm:cxn modelId="{5FCE8F77-1BA0-4186-8956-4392512A3024}" type="presParOf" srcId="{BF40BE47-93C1-4B36-876F-43598EF86109}" destId="{FC45E665-3011-485C-8196-2B99DA54CF31}" srcOrd="1" destOrd="0" presId="urn:microsoft.com/office/officeart/2005/8/layout/orgChart1#1"/>
    <dgm:cxn modelId="{8A0B845D-99C0-422D-A966-6FEA166C8295}" type="presParOf" srcId="{BF40BE47-93C1-4B36-876F-43598EF86109}" destId="{4C00A962-2061-4805-A637-4788625E7FE2}" srcOrd="2" destOrd="0" presId="urn:microsoft.com/office/officeart/2005/8/layout/orgChart1#1"/>
    <dgm:cxn modelId="{97DD99F8-0F23-4C33-8BF8-A1EF73A14D3A}" type="presParOf" srcId="{32875937-D71C-4098-90F5-A88D2800FBD9}" destId="{93BB34C0-7EF8-4435-9C89-07F34B36D1A4}" srcOrd="6" destOrd="0" presId="urn:microsoft.com/office/officeart/2005/8/layout/orgChart1#1"/>
    <dgm:cxn modelId="{410C6494-EC71-4DE4-8A1A-62B4CE8D91A9}" type="presParOf" srcId="{32875937-D71C-4098-90F5-A88D2800FBD9}" destId="{7C40E151-6BB2-467D-BFC1-917BF109CB45}" srcOrd="7" destOrd="0" presId="urn:microsoft.com/office/officeart/2005/8/layout/orgChart1#1"/>
    <dgm:cxn modelId="{21C1C5F1-0309-4533-892B-ACB607AC06BD}" type="presParOf" srcId="{7C40E151-6BB2-467D-BFC1-917BF109CB45}" destId="{4B26D952-A2C8-4622-AC54-D2E8467FD604}" srcOrd="0" destOrd="0" presId="urn:microsoft.com/office/officeart/2005/8/layout/orgChart1#1"/>
    <dgm:cxn modelId="{26DD094A-A613-467B-A70A-886B7BB6B7A4}" type="presParOf" srcId="{4B26D952-A2C8-4622-AC54-D2E8467FD604}" destId="{B47B1E2B-C88A-415C-AA41-734A9D2A78F4}" srcOrd="0" destOrd="0" presId="urn:microsoft.com/office/officeart/2005/8/layout/orgChart1#1"/>
    <dgm:cxn modelId="{91A9A230-8161-432D-90BB-C14C9ED3EF89}" type="presParOf" srcId="{4B26D952-A2C8-4622-AC54-D2E8467FD604}" destId="{CC9A6AC4-A2FA-4107-9248-E1979C4A4736}" srcOrd="1" destOrd="0" presId="urn:microsoft.com/office/officeart/2005/8/layout/orgChart1#1"/>
    <dgm:cxn modelId="{D733B9E4-31C6-4CCE-8C51-337651C75F06}" type="presParOf" srcId="{7C40E151-6BB2-467D-BFC1-917BF109CB45}" destId="{F4025095-BE84-4257-AF89-1A4DC54E13D6}" srcOrd="1" destOrd="0" presId="urn:microsoft.com/office/officeart/2005/8/layout/orgChart1#1"/>
    <dgm:cxn modelId="{EE981F2C-0C17-4F6B-83EC-2DBEF99B02B3}" type="presParOf" srcId="{7C40E151-6BB2-467D-BFC1-917BF109CB45}" destId="{DB715955-DC6F-48A1-B2BE-4D8F9063B4B9}" srcOrd="2" destOrd="0" presId="urn:microsoft.com/office/officeart/2005/8/layout/orgChart1#1"/>
    <dgm:cxn modelId="{52C564F2-9292-477F-9814-2DFDE56C2D23}" type="presParOf" srcId="{32875937-D71C-4098-90F5-A88D2800FBD9}" destId="{7D392C90-DA66-4733-BA27-0D413CA089E2}" srcOrd="8" destOrd="0" presId="urn:microsoft.com/office/officeart/2005/8/layout/orgChart1#1"/>
    <dgm:cxn modelId="{62AECC3A-BE2F-4CB5-9DC2-6A272B9D9AF1}" type="presParOf" srcId="{32875937-D71C-4098-90F5-A88D2800FBD9}" destId="{0BA9D9B8-3808-4C54-A005-DD70937CCCF3}" srcOrd="9" destOrd="0" presId="urn:microsoft.com/office/officeart/2005/8/layout/orgChart1#1"/>
    <dgm:cxn modelId="{A6F65EC3-F562-4AB1-83E8-66BFAD6AED5D}" type="presParOf" srcId="{0BA9D9B8-3808-4C54-A005-DD70937CCCF3}" destId="{C9B0FE5C-2C14-404C-84C8-0D0C812CDD4D}" srcOrd="0" destOrd="0" presId="urn:microsoft.com/office/officeart/2005/8/layout/orgChart1#1"/>
    <dgm:cxn modelId="{C0BFA3D3-A675-45DC-8A07-97D144F285DE}" type="presParOf" srcId="{C9B0FE5C-2C14-404C-84C8-0D0C812CDD4D}" destId="{CFFF6EA4-AE2F-44FA-BA2F-2CCB4C14E8CB}" srcOrd="0" destOrd="0" presId="urn:microsoft.com/office/officeart/2005/8/layout/orgChart1#1"/>
    <dgm:cxn modelId="{41A14B55-0576-4AD8-B2C5-3730655FE904}" type="presParOf" srcId="{C9B0FE5C-2C14-404C-84C8-0D0C812CDD4D}" destId="{1782A6A0-BC09-4455-A05A-5BE5359716B6}" srcOrd="1" destOrd="0" presId="urn:microsoft.com/office/officeart/2005/8/layout/orgChart1#1"/>
    <dgm:cxn modelId="{27BB259A-DB89-4498-92EE-DDCE4364E1A7}" type="presParOf" srcId="{0BA9D9B8-3808-4C54-A005-DD70937CCCF3}" destId="{FCAE662C-ABED-456C-9496-67403396E5BD}" srcOrd="1" destOrd="0" presId="urn:microsoft.com/office/officeart/2005/8/layout/orgChart1#1"/>
    <dgm:cxn modelId="{40675570-472C-4674-9069-0AF068A37861}" type="presParOf" srcId="{0BA9D9B8-3808-4C54-A005-DD70937CCCF3}" destId="{A5604DAD-AF94-4846-98A8-62AE78390433}" srcOrd="2" destOrd="0" presId="urn:microsoft.com/office/officeart/2005/8/layout/orgChart1#1"/>
    <dgm:cxn modelId="{3ABE4565-DFA0-41D6-A348-659472EB1D49}" type="presParOf" srcId="{32875937-D71C-4098-90F5-A88D2800FBD9}" destId="{CAA00D03-49EC-45DB-B62B-DB481D8F2146}" srcOrd="10" destOrd="0" presId="urn:microsoft.com/office/officeart/2005/8/layout/orgChart1#1"/>
    <dgm:cxn modelId="{41E3232D-C5CD-4D80-8671-EDD84F6DB376}" type="presParOf" srcId="{32875937-D71C-4098-90F5-A88D2800FBD9}" destId="{FBC894EC-A25A-41E1-9A3D-50EC9A6BA5A9}" srcOrd="11" destOrd="0" presId="urn:microsoft.com/office/officeart/2005/8/layout/orgChart1#1"/>
    <dgm:cxn modelId="{A65BB8EC-CE7F-4E02-AFBB-5D2DA07C82A4}" type="presParOf" srcId="{FBC894EC-A25A-41E1-9A3D-50EC9A6BA5A9}" destId="{CF0A358A-0190-4C0A-AE87-688291BFB7CF}" srcOrd="0" destOrd="0" presId="urn:microsoft.com/office/officeart/2005/8/layout/orgChart1#1"/>
    <dgm:cxn modelId="{B51B7CF5-7F81-4D74-B150-795EC063F7A6}" type="presParOf" srcId="{CF0A358A-0190-4C0A-AE87-688291BFB7CF}" destId="{6354CE7B-A3A2-43A6-90B5-7932959CB7FC}" srcOrd="0" destOrd="0" presId="urn:microsoft.com/office/officeart/2005/8/layout/orgChart1#1"/>
    <dgm:cxn modelId="{65BFF518-1F14-412B-BF7F-089C5C733D1C}" type="presParOf" srcId="{CF0A358A-0190-4C0A-AE87-688291BFB7CF}" destId="{E2BB6C98-E3FD-42BF-9811-7982E1877FFD}" srcOrd="1" destOrd="0" presId="urn:microsoft.com/office/officeart/2005/8/layout/orgChart1#1"/>
    <dgm:cxn modelId="{87853FE3-48AF-4EB5-B7E3-A240EBF23E1C}" type="presParOf" srcId="{FBC894EC-A25A-41E1-9A3D-50EC9A6BA5A9}" destId="{353411F0-7ACF-4AA7-B1E3-80FD60372825}" srcOrd="1" destOrd="0" presId="urn:microsoft.com/office/officeart/2005/8/layout/orgChart1#1"/>
    <dgm:cxn modelId="{18C3F5FD-1B91-42CA-ADA3-C0E065EB14B6}" type="presParOf" srcId="{FBC894EC-A25A-41E1-9A3D-50EC9A6BA5A9}" destId="{C1F16B8B-5FA4-461B-94E4-0F0FBAFEFE4B}" srcOrd="2" destOrd="0" presId="urn:microsoft.com/office/officeart/2005/8/layout/orgChart1#1"/>
    <dgm:cxn modelId="{2276A342-6DCA-40BD-984F-F0453116E36F}" type="presParOf" srcId="{8DDA6D3B-68E3-4995-8AF6-03ECBB1B9628}" destId="{DCAA7FC3-CDCF-4C22-A217-614838EE6C30}" srcOrd="2" destOrd="0" presId="urn:microsoft.com/office/officeart/2005/8/layout/orgChart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A00D03-49EC-45DB-B62B-DB481D8F2146}">
      <dsp:nvSpPr>
        <dsp:cNvPr id="0" name=""/>
        <dsp:cNvSpPr/>
      </dsp:nvSpPr>
      <dsp:spPr>
        <a:xfrm>
          <a:off x="5257482" y="2552720"/>
          <a:ext cx="4508883" cy="313013"/>
        </a:xfrm>
        <a:custGeom>
          <a:avLst/>
          <a:gdLst/>
          <a:ahLst/>
          <a:cxnLst/>
          <a:rect l="0" t="0" r="0" b="0"/>
          <a:pathLst>
            <a:path>
              <a:moveTo>
                <a:pt x="0" y="0"/>
              </a:moveTo>
              <a:lnTo>
                <a:pt x="0" y="156506"/>
              </a:lnTo>
              <a:lnTo>
                <a:pt x="4508883" y="156506"/>
              </a:lnTo>
              <a:lnTo>
                <a:pt x="4508883" y="3130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392C90-DA66-4733-BA27-0D413CA089E2}">
      <dsp:nvSpPr>
        <dsp:cNvPr id="0" name=""/>
        <dsp:cNvSpPr/>
      </dsp:nvSpPr>
      <dsp:spPr>
        <a:xfrm>
          <a:off x="5257482" y="2552720"/>
          <a:ext cx="2705329" cy="313013"/>
        </a:xfrm>
        <a:custGeom>
          <a:avLst/>
          <a:gdLst/>
          <a:ahLst/>
          <a:cxnLst/>
          <a:rect l="0" t="0" r="0" b="0"/>
          <a:pathLst>
            <a:path>
              <a:moveTo>
                <a:pt x="0" y="0"/>
              </a:moveTo>
              <a:lnTo>
                <a:pt x="0" y="156506"/>
              </a:lnTo>
              <a:lnTo>
                <a:pt x="2705329" y="156506"/>
              </a:lnTo>
              <a:lnTo>
                <a:pt x="2705329" y="3130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BB34C0-7EF8-4435-9C89-07F34B36D1A4}">
      <dsp:nvSpPr>
        <dsp:cNvPr id="0" name=""/>
        <dsp:cNvSpPr/>
      </dsp:nvSpPr>
      <dsp:spPr>
        <a:xfrm>
          <a:off x="5257482" y="2552720"/>
          <a:ext cx="901776" cy="313013"/>
        </a:xfrm>
        <a:custGeom>
          <a:avLst/>
          <a:gdLst/>
          <a:ahLst/>
          <a:cxnLst/>
          <a:rect l="0" t="0" r="0" b="0"/>
          <a:pathLst>
            <a:path>
              <a:moveTo>
                <a:pt x="0" y="0"/>
              </a:moveTo>
              <a:lnTo>
                <a:pt x="0" y="156506"/>
              </a:lnTo>
              <a:lnTo>
                <a:pt x="901776" y="156506"/>
              </a:lnTo>
              <a:lnTo>
                <a:pt x="901776" y="3130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36489A-7798-404C-9860-544640BDED03}">
      <dsp:nvSpPr>
        <dsp:cNvPr id="0" name=""/>
        <dsp:cNvSpPr/>
      </dsp:nvSpPr>
      <dsp:spPr>
        <a:xfrm>
          <a:off x="4355705" y="2552720"/>
          <a:ext cx="901776" cy="313013"/>
        </a:xfrm>
        <a:custGeom>
          <a:avLst/>
          <a:gdLst/>
          <a:ahLst/>
          <a:cxnLst/>
          <a:rect l="0" t="0" r="0" b="0"/>
          <a:pathLst>
            <a:path>
              <a:moveTo>
                <a:pt x="901776" y="0"/>
              </a:moveTo>
              <a:lnTo>
                <a:pt x="901776" y="156506"/>
              </a:lnTo>
              <a:lnTo>
                <a:pt x="0" y="156506"/>
              </a:lnTo>
              <a:lnTo>
                <a:pt x="0" y="3130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275E37-EDB4-42DB-9F7C-0405EE14CD3E}">
      <dsp:nvSpPr>
        <dsp:cNvPr id="0" name=""/>
        <dsp:cNvSpPr/>
      </dsp:nvSpPr>
      <dsp:spPr>
        <a:xfrm>
          <a:off x="2552152" y="2552720"/>
          <a:ext cx="2705329" cy="313013"/>
        </a:xfrm>
        <a:custGeom>
          <a:avLst/>
          <a:gdLst/>
          <a:ahLst/>
          <a:cxnLst/>
          <a:rect l="0" t="0" r="0" b="0"/>
          <a:pathLst>
            <a:path>
              <a:moveTo>
                <a:pt x="2705329" y="0"/>
              </a:moveTo>
              <a:lnTo>
                <a:pt x="2705329" y="156506"/>
              </a:lnTo>
              <a:lnTo>
                <a:pt x="0" y="156506"/>
              </a:lnTo>
              <a:lnTo>
                <a:pt x="0" y="3130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ACB97AF-EF1C-4483-8DEE-42EB9AC4C2C7}">
      <dsp:nvSpPr>
        <dsp:cNvPr id="0" name=""/>
        <dsp:cNvSpPr/>
      </dsp:nvSpPr>
      <dsp:spPr>
        <a:xfrm>
          <a:off x="748599" y="2552720"/>
          <a:ext cx="4508883" cy="313013"/>
        </a:xfrm>
        <a:custGeom>
          <a:avLst/>
          <a:gdLst/>
          <a:ahLst/>
          <a:cxnLst/>
          <a:rect l="0" t="0" r="0" b="0"/>
          <a:pathLst>
            <a:path>
              <a:moveTo>
                <a:pt x="4508883" y="0"/>
              </a:moveTo>
              <a:lnTo>
                <a:pt x="4508883" y="156506"/>
              </a:lnTo>
              <a:lnTo>
                <a:pt x="0" y="156506"/>
              </a:lnTo>
              <a:lnTo>
                <a:pt x="0" y="3130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15E5E4-1270-4118-8CC5-8D9445B024E5}">
      <dsp:nvSpPr>
        <dsp:cNvPr id="0" name=""/>
        <dsp:cNvSpPr/>
      </dsp:nvSpPr>
      <dsp:spPr>
        <a:xfrm>
          <a:off x="4512212" y="1807450"/>
          <a:ext cx="1490539" cy="74526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100000"/>
            </a:lnSpc>
            <a:spcBef>
              <a:spcPct val="0"/>
            </a:spcBef>
            <a:spcAft>
              <a:spcPct val="35000"/>
            </a:spcAft>
            <a:buNone/>
          </a:pPr>
          <a:r>
            <a:rPr lang="en-US" sz="1700" kern="1200"/>
            <a:t>NLP</a:t>
          </a:r>
        </a:p>
      </dsp:txBody>
      <dsp:txXfrm>
        <a:off x="4512212" y="1807450"/>
        <a:ext cx="1490539" cy="745269"/>
      </dsp:txXfrm>
    </dsp:sp>
    <dsp:sp modelId="{08A419FC-B6EA-4971-9F4D-63E8BAFEB4BA}">
      <dsp:nvSpPr>
        <dsp:cNvPr id="0" name=""/>
        <dsp:cNvSpPr/>
      </dsp:nvSpPr>
      <dsp:spPr>
        <a:xfrm>
          <a:off x="3329" y="2865734"/>
          <a:ext cx="1490539" cy="74526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100000"/>
            </a:lnSpc>
            <a:spcBef>
              <a:spcPct val="0"/>
            </a:spcBef>
            <a:spcAft>
              <a:spcPct val="35000"/>
            </a:spcAft>
            <a:buNone/>
          </a:pPr>
          <a:r>
            <a:rPr lang="en-US" sz="1700" kern="1200"/>
            <a:t>Voice Assistants</a:t>
          </a:r>
        </a:p>
      </dsp:txBody>
      <dsp:txXfrm>
        <a:off x="3329" y="2865734"/>
        <a:ext cx="1490539" cy="745269"/>
      </dsp:txXfrm>
    </dsp:sp>
    <dsp:sp modelId="{BD7D9DA7-696B-4A6B-A45A-10F2CBBC4D2E}">
      <dsp:nvSpPr>
        <dsp:cNvPr id="0" name=""/>
        <dsp:cNvSpPr/>
      </dsp:nvSpPr>
      <dsp:spPr>
        <a:xfrm>
          <a:off x="1806882" y="2865734"/>
          <a:ext cx="1490539" cy="74526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100000"/>
            </a:lnSpc>
            <a:spcBef>
              <a:spcPct val="0"/>
            </a:spcBef>
            <a:spcAft>
              <a:spcPct val="35000"/>
            </a:spcAft>
            <a:buNone/>
          </a:pPr>
          <a:r>
            <a:rPr lang="en-US" sz="1700" kern="1200"/>
            <a:t>Auto Generated Captions</a:t>
          </a:r>
        </a:p>
      </dsp:txBody>
      <dsp:txXfrm>
        <a:off x="1806882" y="2865734"/>
        <a:ext cx="1490539" cy="745269"/>
      </dsp:txXfrm>
    </dsp:sp>
    <dsp:sp modelId="{5E20498F-3DD4-4FE4-B860-52B609EF7878}">
      <dsp:nvSpPr>
        <dsp:cNvPr id="0" name=""/>
        <dsp:cNvSpPr/>
      </dsp:nvSpPr>
      <dsp:spPr>
        <a:xfrm>
          <a:off x="3610435" y="2865734"/>
          <a:ext cx="1490539" cy="74526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100000"/>
            </a:lnSpc>
            <a:spcBef>
              <a:spcPct val="0"/>
            </a:spcBef>
            <a:spcAft>
              <a:spcPct val="35000"/>
            </a:spcAft>
            <a:buNone/>
          </a:pPr>
          <a:r>
            <a:rPr lang="en-US" sz="1700" kern="1200"/>
            <a:t>Language Translations</a:t>
          </a:r>
        </a:p>
      </dsp:txBody>
      <dsp:txXfrm>
        <a:off x="3610435" y="2865734"/>
        <a:ext cx="1490539" cy="745269"/>
      </dsp:txXfrm>
    </dsp:sp>
    <dsp:sp modelId="{B47B1E2B-C88A-415C-AA41-734A9D2A78F4}">
      <dsp:nvSpPr>
        <dsp:cNvPr id="0" name=""/>
        <dsp:cNvSpPr/>
      </dsp:nvSpPr>
      <dsp:spPr>
        <a:xfrm>
          <a:off x="5413989" y="2865734"/>
          <a:ext cx="1490539" cy="74526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100000"/>
            </a:lnSpc>
            <a:spcBef>
              <a:spcPct val="0"/>
            </a:spcBef>
            <a:spcAft>
              <a:spcPct val="35000"/>
            </a:spcAft>
            <a:buNone/>
          </a:pPr>
          <a:r>
            <a:rPr lang="en-US" sz="1700" kern="1200"/>
            <a:t>Sentiment Analysis</a:t>
          </a:r>
        </a:p>
      </dsp:txBody>
      <dsp:txXfrm>
        <a:off x="5413989" y="2865734"/>
        <a:ext cx="1490539" cy="745269"/>
      </dsp:txXfrm>
    </dsp:sp>
    <dsp:sp modelId="{CFFF6EA4-AE2F-44FA-BA2F-2CCB4C14E8CB}">
      <dsp:nvSpPr>
        <dsp:cNvPr id="0" name=""/>
        <dsp:cNvSpPr/>
      </dsp:nvSpPr>
      <dsp:spPr>
        <a:xfrm>
          <a:off x="7217542" y="2865734"/>
          <a:ext cx="1490539" cy="74526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100000"/>
            </a:lnSpc>
            <a:spcBef>
              <a:spcPct val="0"/>
            </a:spcBef>
            <a:spcAft>
              <a:spcPct val="35000"/>
            </a:spcAft>
            <a:buNone/>
          </a:pPr>
          <a:r>
            <a:rPr lang="en-US" sz="1700" kern="1200"/>
            <a:t>Text Classification</a:t>
          </a:r>
        </a:p>
      </dsp:txBody>
      <dsp:txXfrm>
        <a:off x="7217542" y="2865734"/>
        <a:ext cx="1490539" cy="745269"/>
      </dsp:txXfrm>
    </dsp:sp>
    <dsp:sp modelId="{6354CE7B-A3A2-43A6-90B5-7932959CB7FC}">
      <dsp:nvSpPr>
        <dsp:cNvPr id="0" name=""/>
        <dsp:cNvSpPr/>
      </dsp:nvSpPr>
      <dsp:spPr>
        <a:xfrm>
          <a:off x="9021095" y="2865734"/>
          <a:ext cx="1490539" cy="74526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100000"/>
            </a:lnSpc>
            <a:spcBef>
              <a:spcPct val="0"/>
            </a:spcBef>
            <a:spcAft>
              <a:spcPct val="35000"/>
            </a:spcAft>
            <a:buNone/>
          </a:pPr>
          <a:r>
            <a:rPr lang="en-US" sz="1700" kern="1200"/>
            <a:t>Keyword Extraction</a:t>
          </a:r>
        </a:p>
      </dsp:txBody>
      <dsp:txXfrm>
        <a:off x="9021095" y="2865734"/>
        <a:ext cx="1490539" cy="74526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rSet qsTypeId="urn:microsoft.com/office/officeart/2005/8/quickstyle/simple5"/>
        </dgm:pt>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rSet csTypeId="urn:microsoft.com/office/officeart/2005/8/colors/accent6_5"/>
        </dgm:pt>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10/13/26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10/13/26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10/13/26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10/13/26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5-10-31 at 8.43.55 AM"/>
          <p:cNvPicPr>
            <a:picLocks noChangeAspect="1"/>
          </p:cNvPicPr>
          <p:nvPr/>
        </p:nvPicPr>
        <p:blipFill>
          <a:blip r:embed="rId2"/>
          <a:stretch>
            <a:fillRect/>
          </a:stretch>
        </p:blipFill>
        <p:spPr>
          <a:xfrm>
            <a:off x="378460" y="792480"/>
            <a:ext cx="11435080" cy="5273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NLP is Important</a:t>
            </a:r>
            <a:r>
              <a:rPr lang="en-US" dirty="0"/>
              <a:t>?</a:t>
            </a:r>
          </a:p>
        </p:txBody>
      </p:sp>
      <p:sp>
        <p:nvSpPr>
          <p:cNvPr id="4" name="Text Box 3"/>
          <p:cNvSpPr txBox="1"/>
          <p:nvPr/>
        </p:nvSpPr>
        <p:spPr>
          <a:xfrm>
            <a:off x="838200" y="2106295"/>
            <a:ext cx="10384790" cy="2676525"/>
          </a:xfrm>
          <a:prstGeom prst="rect">
            <a:avLst/>
          </a:prstGeom>
        </p:spPr>
        <p:txBody>
          <a:bodyPr wrap="square">
            <a:spAutoFit/>
          </a:bodyPr>
          <a:lstStyle/>
          <a:p>
            <a:pPr algn="just">
              <a:lnSpc>
                <a:spcPct val="150000"/>
              </a:lnSpc>
            </a:pPr>
            <a:r>
              <a:rPr lang="en-US" sz="2800" dirty="0">
                <a:solidFill>
                  <a:srgbClr val="000000"/>
                </a:solidFill>
                <a:latin typeface="Calibri"/>
                <a:ea typeface="Calibri"/>
              </a:rPr>
              <a:t>T</a:t>
            </a:r>
            <a:r>
              <a:rPr sz="2800" dirty="0">
                <a:solidFill>
                  <a:srgbClr val="000000"/>
                </a:solidFill>
                <a:latin typeface="Calibri"/>
                <a:ea typeface="Calibri"/>
              </a:rPr>
              <a:t>he whole purpose of NLP is</a:t>
            </a:r>
            <a:r>
              <a:rPr lang="en-US" sz="2800" dirty="0">
                <a:solidFill>
                  <a:srgbClr val="000000"/>
                </a:solidFill>
                <a:latin typeface="Calibri"/>
                <a:ea typeface="Calibri"/>
              </a:rPr>
              <a:t> </a:t>
            </a:r>
            <a:r>
              <a:rPr sz="2800" dirty="0">
                <a:solidFill>
                  <a:srgbClr val="000000"/>
                </a:solidFill>
                <a:latin typeface="Calibri"/>
                <a:ea typeface="Calibri"/>
              </a:rPr>
              <a:t>to </a:t>
            </a:r>
            <a:r>
              <a:rPr sz="2800" i="1" u="sng" dirty="0">
                <a:solidFill>
                  <a:srgbClr val="000000"/>
                </a:solidFill>
                <a:latin typeface="Calibri"/>
                <a:ea typeface="Calibri"/>
              </a:rPr>
              <a:t>make communication between computer systems and humans possible</a:t>
            </a:r>
            <a:r>
              <a:rPr sz="2800" dirty="0">
                <a:solidFill>
                  <a:srgbClr val="000000"/>
                </a:solidFill>
                <a:latin typeface="Calibri"/>
                <a:ea typeface="Calibri"/>
              </a:rPr>
              <a:t>. This includes creating different tools and techniques that facilitate better</a:t>
            </a:r>
            <a:r>
              <a:rPr lang="en-US" sz="2800" dirty="0">
                <a:solidFill>
                  <a:srgbClr val="000000"/>
                </a:solidFill>
                <a:latin typeface="Calibri"/>
                <a:ea typeface="Calibri"/>
              </a:rPr>
              <a:t> </a:t>
            </a:r>
            <a:r>
              <a:rPr sz="2800" dirty="0">
                <a:solidFill>
                  <a:srgbClr val="000000"/>
                </a:solidFill>
                <a:latin typeface="Calibri"/>
                <a:ea typeface="Calibri"/>
              </a:rPr>
              <a:t>communication of intent and context.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Applicatios of NLP</a:t>
            </a:r>
          </a:p>
        </p:txBody>
      </p:sp>
      <p:graphicFrame>
        <p:nvGraphicFramePr>
          <p:cNvPr id="4" name="Diagram 3"/>
          <p:cNvGraphicFramePr/>
          <p:nvPr/>
        </p:nvGraphicFramePr>
        <p:xfrm>
          <a:off x="914400" y="720090"/>
          <a:ext cx="10514965" cy="54184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4698442" cy="1325563"/>
          </a:xfrm>
        </p:spPr>
        <p:txBody>
          <a:bodyPr/>
          <a:lstStyle/>
          <a:p>
            <a:r>
              <a:rPr lang="en-US" dirty="0"/>
              <a:t>Keyword Extraction</a:t>
            </a:r>
          </a:p>
        </p:txBody>
      </p:sp>
      <p:pic>
        <p:nvPicPr>
          <p:cNvPr id="4" name="Picture 3" descr="Screenshot 2025-10-31 at 8.55.47 AM"/>
          <p:cNvPicPr>
            <a:picLocks noChangeAspect="1"/>
          </p:cNvPicPr>
          <p:nvPr/>
        </p:nvPicPr>
        <p:blipFill>
          <a:blip r:embed="rId2"/>
          <a:stretch>
            <a:fillRect/>
          </a:stretch>
        </p:blipFill>
        <p:spPr>
          <a:xfrm>
            <a:off x="1828800" y="2273300"/>
            <a:ext cx="8534400" cy="2349500"/>
          </a:xfrm>
          <a:prstGeom prst="rect">
            <a:avLst/>
          </a:prstGeom>
        </p:spPr>
      </p:pic>
      <p:sp>
        <p:nvSpPr>
          <p:cNvPr id="5" name="Text Box 4"/>
          <p:cNvSpPr txBox="1"/>
          <p:nvPr/>
        </p:nvSpPr>
        <p:spPr>
          <a:xfrm>
            <a:off x="4168422" y="5205412"/>
            <a:ext cx="3855155" cy="338554"/>
          </a:xfrm>
          <a:prstGeom prst="rect">
            <a:avLst/>
          </a:prstGeom>
        </p:spPr>
        <p:txBody>
          <a:bodyPr wrap="square">
            <a:spAutoFit/>
          </a:bodyPr>
          <a:lstStyle/>
          <a:p>
            <a:r>
              <a:rPr sz="1600" dirty="0">
                <a:solidFill>
                  <a:srgbClr val="0462C1"/>
                </a:solidFill>
                <a:latin typeface="Calibri"/>
                <a:ea typeface="Calibri"/>
              </a:rPr>
              <a:t>https://</a:t>
            </a:r>
            <a:r>
              <a:rPr sz="1600" dirty="0" err="1">
                <a:solidFill>
                  <a:srgbClr val="0462C1"/>
                </a:solidFill>
                <a:latin typeface="Calibri"/>
                <a:ea typeface="Calibri"/>
              </a:rPr>
              <a:t>cloud.google.com</a:t>
            </a:r>
            <a:r>
              <a:rPr sz="1600" dirty="0">
                <a:solidFill>
                  <a:srgbClr val="0462C1"/>
                </a:solidFill>
                <a:latin typeface="Calibri"/>
                <a:ea typeface="Calibri"/>
              </a:rPr>
              <a:t>/natural-language</a:t>
            </a:r>
          </a:p>
        </p:txBody>
      </p:sp>
      <p:pic>
        <p:nvPicPr>
          <p:cNvPr id="3" name="Picture 2" descr="Sign Activity PNG, Vector, PSD, and Clipart With Transparent Background for  Free Download | Pngtree">
            <a:extLst>
              <a:ext uri="{FF2B5EF4-FFF2-40B4-BE49-F238E27FC236}">
                <a16:creationId xmlns:a16="http://schemas.microsoft.com/office/drawing/2014/main" id="{2520B87C-E612-EBCA-F97E-8931D7CFFDC9}"/>
              </a:ext>
            </a:extLst>
          </p:cNvPr>
          <p:cNvPicPr>
            <a:picLocks noChangeAspect="1"/>
          </p:cNvPicPr>
          <p:nvPr/>
        </p:nvPicPr>
        <p:blipFill>
          <a:blip r:embed="rId3"/>
          <a:stretch>
            <a:fillRect/>
          </a:stretch>
        </p:blipFill>
        <p:spPr>
          <a:xfrm>
            <a:off x="10322588" y="512300"/>
            <a:ext cx="1031212" cy="103121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Stages of NLP</a:t>
            </a:r>
          </a:p>
        </p:txBody>
      </p:sp>
      <p:sp>
        <p:nvSpPr>
          <p:cNvPr id="4" name="Text Box 3"/>
          <p:cNvSpPr txBox="1"/>
          <p:nvPr/>
        </p:nvSpPr>
        <p:spPr>
          <a:xfrm>
            <a:off x="838200" y="1492250"/>
            <a:ext cx="10515600" cy="1337945"/>
          </a:xfrm>
          <a:prstGeom prst="rect">
            <a:avLst/>
          </a:prstGeom>
        </p:spPr>
        <p:txBody>
          <a:bodyPr wrap="square">
            <a:spAutoFit/>
          </a:bodyPr>
          <a:lstStyle/>
          <a:p>
            <a:pPr algn="just">
              <a:lnSpc>
                <a:spcPct val="150000"/>
              </a:lnSpc>
            </a:pPr>
            <a:r>
              <a:rPr dirty="0">
                <a:solidFill>
                  <a:srgbClr val="000000"/>
                </a:solidFill>
                <a:latin typeface="Calibri"/>
                <a:ea typeface="Calibri"/>
              </a:rPr>
              <a:t>The different</a:t>
            </a:r>
            <a:r>
              <a:rPr lang="en-US" dirty="0">
                <a:solidFill>
                  <a:srgbClr val="000000"/>
                </a:solidFill>
                <a:latin typeface="Calibri"/>
                <a:ea typeface="Calibri"/>
              </a:rPr>
              <a:t> </a:t>
            </a:r>
            <a:r>
              <a:rPr dirty="0">
                <a:solidFill>
                  <a:srgbClr val="000000"/>
                </a:solidFill>
                <a:latin typeface="Calibri"/>
                <a:ea typeface="Calibri"/>
              </a:rPr>
              <a:t>stages of</a:t>
            </a:r>
            <a:r>
              <a:rPr lang="en-US" dirty="0">
                <a:solidFill>
                  <a:srgbClr val="000000"/>
                </a:solidFill>
                <a:latin typeface="Calibri"/>
                <a:ea typeface="Calibri"/>
              </a:rPr>
              <a:t> </a:t>
            </a:r>
            <a:r>
              <a:rPr dirty="0">
                <a:solidFill>
                  <a:srgbClr val="000000"/>
                </a:solidFill>
                <a:latin typeface="Calibri"/>
                <a:ea typeface="Calibri"/>
              </a:rPr>
              <a:t>Natural Language Processing (NLP)serve various purposes</a:t>
            </a:r>
            <a:r>
              <a:rPr lang="en-US" dirty="0">
                <a:solidFill>
                  <a:srgbClr val="000000"/>
                </a:solidFill>
                <a:latin typeface="Calibri"/>
                <a:ea typeface="Calibri"/>
              </a:rPr>
              <a:t> </a:t>
            </a:r>
            <a:r>
              <a:rPr dirty="0">
                <a:solidFill>
                  <a:srgbClr val="000000"/>
                </a:solidFill>
                <a:latin typeface="Calibri"/>
                <a:ea typeface="Calibri"/>
              </a:rPr>
              <a:t>in the</a:t>
            </a:r>
            <a:r>
              <a:rPr lang="en-US" dirty="0">
                <a:solidFill>
                  <a:srgbClr val="000000"/>
                </a:solidFill>
                <a:latin typeface="Calibri"/>
                <a:ea typeface="Calibri"/>
              </a:rPr>
              <a:t> </a:t>
            </a:r>
            <a:r>
              <a:rPr dirty="0">
                <a:solidFill>
                  <a:srgbClr val="000000"/>
                </a:solidFill>
                <a:latin typeface="Calibri"/>
                <a:ea typeface="Calibri"/>
              </a:rPr>
              <a:t>overall task of understanding and processing human language. The stages of Natural Language Processing (NLP) typically involve the following:</a:t>
            </a:r>
          </a:p>
        </p:txBody>
      </p:sp>
      <p:pic>
        <p:nvPicPr>
          <p:cNvPr id="5" name="Picture 4" descr="Screenshot 2025-10-31 at 8.58.33 AM"/>
          <p:cNvPicPr>
            <a:picLocks noChangeAspect="1"/>
          </p:cNvPicPr>
          <p:nvPr/>
        </p:nvPicPr>
        <p:blipFill>
          <a:blip r:embed="rId2"/>
          <a:stretch>
            <a:fillRect/>
          </a:stretch>
        </p:blipFill>
        <p:spPr>
          <a:xfrm>
            <a:off x="838835" y="2948940"/>
            <a:ext cx="10515600" cy="3111500"/>
          </a:xfrm>
          <a:prstGeom prst="rect">
            <a:avLst/>
          </a:prstGeom>
        </p:spPr>
      </p:pic>
      <p:pic>
        <p:nvPicPr>
          <p:cNvPr id="3" name="Picture 2" descr="Important PNG Transparent Images Free Download | Vector Files | Pngtree">
            <a:extLst>
              <a:ext uri="{FF2B5EF4-FFF2-40B4-BE49-F238E27FC236}">
                <a16:creationId xmlns:a16="http://schemas.microsoft.com/office/drawing/2014/main" id="{78CD605F-B241-7E00-9D04-588DC7366504}"/>
              </a:ext>
            </a:extLst>
          </p:cNvPr>
          <p:cNvPicPr>
            <a:picLocks noChangeAspect="1"/>
          </p:cNvPicPr>
          <p:nvPr/>
        </p:nvPicPr>
        <p:blipFill>
          <a:blip r:embed="rId3"/>
          <a:stretch>
            <a:fillRect/>
          </a:stretch>
        </p:blipFill>
        <p:spPr>
          <a:xfrm rot="20286742">
            <a:off x="10634713" y="78475"/>
            <a:ext cx="1438171" cy="143817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Lexical Analysis</a:t>
            </a:r>
          </a:p>
        </p:txBody>
      </p:sp>
      <p:sp>
        <p:nvSpPr>
          <p:cNvPr id="4" name="Text Box 3"/>
          <p:cNvSpPr txBox="1"/>
          <p:nvPr/>
        </p:nvSpPr>
        <p:spPr>
          <a:xfrm>
            <a:off x="838200" y="1491615"/>
            <a:ext cx="10515600" cy="1337945"/>
          </a:xfrm>
          <a:prstGeom prst="rect">
            <a:avLst/>
          </a:prstGeom>
        </p:spPr>
        <p:txBody>
          <a:bodyPr wrap="square">
            <a:spAutoFit/>
          </a:bodyPr>
          <a:lstStyle/>
          <a:p>
            <a:pPr algn="just">
              <a:lnSpc>
                <a:spcPct val="150000"/>
              </a:lnSpc>
            </a:pPr>
            <a:r>
              <a:rPr>
                <a:solidFill>
                  <a:srgbClr val="000000"/>
                </a:solidFill>
                <a:latin typeface="Calibri"/>
                <a:ea typeface="Calibri"/>
              </a:rPr>
              <a:t>NLP starts with identifying the structure of input words. It is the process of dividing a large chunk of words into structural paragraphs, sentences, and words. Lexicon stands for a collection of the various words and phrases used in a language</a:t>
            </a:r>
            <a:r>
              <a:rPr lang="en-US">
                <a:solidFill>
                  <a:srgbClr val="000000"/>
                </a:solidFill>
                <a:latin typeface="Calibri"/>
                <a:ea typeface="Calibri"/>
              </a:rPr>
              <a:t>.</a:t>
            </a:r>
          </a:p>
        </p:txBody>
      </p:sp>
      <p:pic>
        <p:nvPicPr>
          <p:cNvPr id="5" name="Picture 4" descr="Screenshot 2025-10-31 at 9.02.10 AM"/>
          <p:cNvPicPr>
            <a:picLocks noChangeAspect="1"/>
          </p:cNvPicPr>
          <p:nvPr/>
        </p:nvPicPr>
        <p:blipFill>
          <a:blip r:embed="rId2"/>
          <a:stretch>
            <a:fillRect/>
          </a:stretch>
        </p:blipFill>
        <p:spPr>
          <a:xfrm>
            <a:off x="3183890" y="2969895"/>
            <a:ext cx="5824220" cy="3075940"/>
          </a:xfrm>
          <a:prstGeom prst="rect">
            <a:avLst/>
          </a:prstGeom>
        </p:spPr>
      </p:pic>
      <p:sp>
        <p:nvSpPr>
          <p:cNvPr id="6" name="Text Box 5"/>
          <p:cNvSpPr txBox="1"/>
          <p:nvPr/>
        </p:nvSpPr>
        <p:spPr>
          <a:xfrm>
            <a:off x="3556000" y="6185853"/>
            <a:ext cx="5080000" cy="368300"/>
          </a:xfrm>
          <a:prstGeom prst="rect">
            <a:avLst/>
          </a:prstGeom>
        </p:spPr>
        <p:txBody>
          <a:bodyPr>
            <a:spAutoFit/>
          </a:bodyPr>
          <a:lstStyle/>
          <a:p>
            <a:pPr algn="ctr"/>
            <a:r>
              <a:rPr>
                <a:solidFill>
                  <a:srgbClr val="000000"/>
                </a:solidFill>
                <a:latin typeface="Calibri"/>
                <a:ea typeface="Calibri"/>
              </a:rPr>
              <a:t>Lengthy text is broken down into chunks.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Syntactic Analysis / Parsing</a:t>
            </a:r>
          </a:p>
        </p:txBody>
      </p:sp>
      <p:sp>
        <p:nvSpPr>
          <p:cNvPr id="4" name="Text Box 3"/>
          <p:cNvSpPr txBox="1"/>
          <p:nvPr/>
        </p:nvSpPr>
        <p:spPr>
          <a:xfrm>
            <a:off x="838200" y="1691005"/>
            <a:ext cx="10515600" cy="880369"/>
          </a:xfrm>
          <a:prstGeom prst="rect">
            <a:avLst/>
          </a:prstGeom>
        </p:spPr>
        <p:txBody>
          <a:bodyPr wrap="square">
            <a:spAutoFit/>
          </a:bodyPr>
          <a:lstStyle/>
          <a:p>
            <a:pPr algn="just">
              <a:lnSpc>
                <a:spcPct val="150000"/>
              </a:lnSpc>
            </a:pPr>
            <a:r>
              <a:rPr dirty="0">
                <a:solidFill>
                  <a:srgbClr val="000000"/>
                </a:solidFill>
                <a:latin typeface="Calibri"/>
                <a:ea typeface="Calibri"/>
              </a:rPr>
              <a:t>It is the process of </a:t>
            </a:r>
            <a:r>
              <a:rPr i="1" u="sng" dirty="0">
                <a:solidFill>
                  <a:srgbClr val="000000"/>
                </a:solidFill>
                <a:latin typeface="Calibri"/>
                <a:ea typeface="Calibri"/>
              </a:rPr>
              <a:t>checking the grammar of sentences and phrases</a:t>
            </a:r>
            <a:r>
              <a:rPr dirty="0">
                <a:solidFill>
                  <a:srgbClr val="000000"/>
                </a:solidFill>
                <a:latin typeface="Calibri"/>
                <a:ea typeface="Calibri"/>
              </a:rPr>
              <a:t>. It forms a relationship among words and eliminates logically incorrect sentences.</a:t>
            </a:r>
          </a:p>
        </p:txBody>
      </p:sp>
      <p:pic>
        <p:nvPicPr>
          <p:cNvPr id="5" name="Picture 4" descr="Screenshot 2025-10-31 at 9.06.07 AM"/>
          <p:cNvPicPr>
            <a:picLocks noChangeAspect="1"/>
          </p:cNvPicPr>
          <p:nvPr/>
        </p:nvPicPr>
        <p:blipFill>
          <a:blip r:embed="rId2"/>
          <a:stretch>
            <a:fillRect/>
          </a:stretch>
        </p:blipFill>
        <p:spPr>
          <a:xfrm>
            <a:off x="2633980" y="2785745"/>
            <a:ext cx="6923405" cy="3233420"/>
          </a:xfrm>
          <a:prstGeom prst="rect">
            <a:avLst/>
          </a:prstGeom>
        </p:spPr>
      </p:pic>
      <p:sp>
        <p:nvSpPr>
          <p:cNvPr id="6" name="Text Box 5"/>
          <p:cNvSpPr txBox="1"/>
          <p:nvPr/>
        </p:nvSpPr>
        <p:spPr>
          <a:xfrm>
            <a:off x="3555365" y="6191568"/>
            <a:ext cx="5080000" cy="337185"/>
          </a:xfrm>
          <a:prstGeom prst="rect">
            <a:avLst/>
          </a:prstGeom>
        </p:spPr>
        <p:txBody>
          <a:bodyPr>
            <a:spAutoFit/>
          </a:bodyPr>
          <a:lstStyle/>
          <a:p>
            <a:pPr algn="ctr"/>
            <a:r>
              <a:rPr lang="en-US" sz="1600">
                <a:solidFill>
                  <a:srgbClr val="000000"/>
                </a:solidFill>
                <a:latin typeface="Calibri"/>
                <a:ea typeface="Calibri"/>
              </a:rPr>
              <a:t>The Grammar is Correct!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Sementic Analysis</a:t>
            </a:r>
          </a:p>
        </p:txBody>
      </p:sp>
      <p:sp>
        <p:nvSpPr>
          <p:cNvPr id="4" name="Text Box 3"/>
          <p:cNvSpPr txBox="1"/>
          <p:nvPr/>
        </p:nvSpPr>
        <p:spPr>
          <a:xfrm>
            <a:off x="838200" y="1491615"/>
            <a:ext cx="10515600" cy="1198880"/>
          </a:xfrm>
          <a:prstGeom prst="rect">
            <a:avLst/>
          </a:prstGeom>
        </p:spPr>
        <p:txBody>
          <a:bodyPr wrap="square">
            <a:spAutoFit/>
          </a:bodyPr>
          <a:lstStyle/>
          <a:p>
            <a:pPr algn="just"/>
            <a:r>
              <a:rPr dirty="0">
                <a:solidFill>
                  <a:srgbClr val="000000"/>
                </a:solidFill>
                <a:latin typeface="Calibri"/>
                <a:ea typeface="Calibri"/>
              </a:rPr>
              <a:t>In this</a:t>
            </a:r>
            <a:r>
              <a:rPr lang="en-US" dirty="0">
                <a:solidFill>
                  <a:srgbClr val="000000"/>
                </a:solidFill>
                <a:latin typeface="Calibri"/>
                <a:ea typeface="Calibri"/>
              </a:rPr>
              <a:t> </a:t>
            </a:r>
            <a:r>
              <a:rPr dirty="0">
                <a:solidFill>
                  <a:srgbClr val="000000"/>
                </a:solidFill>
                <a:latin typeface="Calibri"/>
                <a:ea typeface="Calibri"/>
              </a:rPr>
              <a:t>stage, the input text is now </a:t>
            </a:r>
            <a:r>
              <a:rPr i="1" u="sng" dirty="0">
                <a:solidFill>
                  <a:srgbClr val="000000"/>
                </a:solidFill>
                <a:latin typeface="Calibri"/>
                <a:ea typeface="Calibri"/>
              </a:rPr>
              <a:t>checked for meaning</a:t>
            </a:r>
            <a:r>
              <a:rPr dirty="0">
                <a:solidFill>
                  <a:srgbClr val="000000"/>
                </a:solidFill>
                <a:latin typeface="Calibri"/>
                <a:ea typeface="Calibri"/>
              </a:rPr>
              <a:t>, and every word and phrase is</a:t>
            </a:r>
            <a:r>
              <a:rPr lang="en-US" dirty="0">
                <a:solidFill>
                  <a:srgbClr val="000000"/>
                </a:solidFill>
                <a:latin typeface="Calibri"/>
                <a:ea typeface="Calibri"/>
              </a:rPr>
              <a:t> </a:t>
            </a:r>
            <a:r>
              <a:rPr dirty="0">
                <a:solidFill>
                  <a:srgbClr val="000000"/>
                </a:solidFill>
                <a:latin typeface="Calibri"/>
                <a:ea typeface="Calibri"/>
              </a:rPr>
              <a:t>checked for meaningfulness. </a:t>
            </a:r>
          </a:p>
          <a:p>
            <a:pPr algn="just"/>
            <a:r>
              <a:rPr b="1" dirty="0">
                <a:solidFill>
                  <a:srgbClr val="000000"/>
                </a:solidFill>
                <a:latin typeface="Calibri"/>
                <a:ea typeface="Calibri"/>
              </a:rPr>
              <a:t>For example</a:t>
            </a:r>
            <a:r>
              <a:rPr dirty="0">
                <a:solidFill>
                  <a:srgbClr val="000000"/>
                </a:solidFill>
                <a:latin typeface="Calibri"/>
                <a:ea typeface="Calibri"/>
              </a:rPr>
              <a:t>: </a:t>
            </a:r>
          </a:p>
          <a:p>
            <a:pPr algn="just"/>
            <a:r>
              <a:rPr dirty="0">
                <a:solidFill>
                  <a:srgbClr val="000000"/>
                </a:solidFill>
                <a:latin typeface="Calibri"/>
                <a:ea typeface="Calibri"/>
              </a:rPr>
              <a:t>It will reject a sentence that contains ‘hot ice </a:t>
            </a:r>
            <a:r>
              <a:rPr dirty="0" err="1">
                <a:solidFill>
                  <a:srgbClr val="000000"/>
                </a:solidFill>
                <a:latin typeface="Calibri"/>
                <a:ea typeface="Calibri"/>
              </a:rPr>
              <a:t>cream’in</a:t>
            </a:r>
            <a:r>
              <a:rPr dirty="0">
                <a:solidFill>
                  <a:srgbClr val="000000"/>
                </a:solidFill>
                <a:latin typeface="Calibri"/>
                <a:ea typeface="Calibri"/>
              </a:rPr>
              <a:t> it.</a:t>
            </a:r>
            <a:r>
              <a:rPr lang="en-US" dirty="0">
                <a:solidFill>
                  <a:srgbClr val="000000"/>
                </a:solidFill>
                <a:latin typeface="Calibri"/>
                <a:ea typeface="Calibri"/>
              </a:rPr>
              <a:t> </a:t>
            </a:r>
            <a:r>
              <a:rPr dirty="0">
                <a:solidFill>
                  <a:srgbClr val="000000"/>
                </a:solidFill>
                <a:latin typeface="Calibri"/>
                <a:ea typeface="Calibri"/>
              </a:rPr>
              <a:t>The fox jumped into the dog.</a:t>
            </a:r>
          </a:p>
        </p:txBody>
      </p:sp>
      <p:pic>
        <p:nvPicPr>
          <p:cNvPr id="5" name="Picture 4" descr="Screenshot 2025-10-31 at 9.10.16 AM"/>
          <p:cNvPicPr>
            <a:picLocks noChangeAspect="1"/>
          </p:cNvPicPr>
          <p:nvPr/>
        </p:nvPicPr>
        <p:blipFill>
          <a:blip r:embed="rId2"/>
          <a:stretch>
            <a:fillRect/>
          </a:stretch>
        </p:blipFill>
        <p:spPr>
          <a:xfrm>
            <a:off x="2406650" y="3075940"/>
            <a:ext cx="7378700" cy="2938145"/>
          </a:xfrm>
          <a:prstGeom prst="rect">
            <a:avLst/>
          </a:prstGeom>
        </p:spPr>
      </p:pic>
      <p:sp>
        <p:nvSpPr>
          <p:cNvPr id="6" name="Text Box 5"/>
          <p:cNvSpPr txBox="1"/>
          <p:nvPr/>
        </p:nvSpPr>
        <p:spPr>
          <a:xfrm>
            <a:off x="3556000" y="6248718"/>
            <a:ext cx="5080000" cy="368300"/>
          </a:xfrm>
          <a:prstGeom prst="rect">
            <a:avLst/>
          </a:prstGeom>
        </p:spPr>
        <p:txBody>
          <a:bodyPr>
            <a:spAutoFit/>
          </a:bodyPr>
          <a:lstStyle/>
          <a:p>
            <a:pPr algn="ctr"/>
            <a:r>
              <a:rPr>
                <a:solidFill>
                  <a:srgbClr val="000000"/>
                </a:solidFill>
                <a:latin typeface="Calibri"/>
                <a:ea typeface="Calibri"/>
              </a:rPr>
              <a:t>Sentences make actual sense!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Discourse integration</a:t>
            </a:r>
          </a:p>
        </p:txBody>
      </p:sp>
      <p:sp>
        <p:nvSpPr>
          <p:cNvPr id="4" name="Text Box 3"/>
          <p:cNvSpPr txBox="1"/>
          <p:nvPr/>
        </p:nvSpPr>
        <p:spPr>
          <a:xfrm>
            <a:off x="838200" y="1569085"/>
            <a:ext cx="10515600" cy="880369"/>
          </a:xfrm>
          <a:prstGeom prst="rect">
            <a:avLst/>
          </a:prstGeom>
        </p:spPr>
        <p:txBody>
          <a:bodyPr wrap="square">
            <a:spAutoFit/>
          </a:bodyPr>
          <a:lstStyle/>
          <a:p>
            <a:pPr algn="just">
              <a:lnSpc>
                <a:spcPct val="150000"/>
              </a:lnSpc>
            </a:pPr>
            <a:r>
              <a:rPr dirty="0">
                <a:solidFill>
                  <a:srgbClr val="000000"/>
                </a:solidFill>
                <a:latin typeface="Calibri"/>
                <a:ea typeface="Calibri"/>
              </a:rPr>
              <a:t>It is the </a:t>
            </a:r>
            <a:r>
              <a:rPr i="1" u="sng" dirty="0">
                <a:solidFill>
                  <a:srgbClr val="000000"/>
                </a:solidFill>
                <a:latin typeface="Calibri"/>
                <a:ea typeface="Calibri"/>
              </a:rPr>
              <a:t>process of forming the story of the sentence</a:t>
            </a:r>
            <a:r>
              <a:rPr dirty="0">
                <a:solidFill>
                  <a:srgbClr val="000000"/>
                </a:solidFill>
                <a:latin typeface="Calibri"/>
                <a:ea typeface="Calibri"/>
              </a:rPr>
              <a:t>. Every sentence should have a relationship with its preceding and succeeding sentences</a:t>
            </a:r>
          </a:p>
        </p:txBody>
      </p:sp>
      <p:pic>
        <p:nvPicPr>
          <p:cNvPr id="5" name="Picture 4" descr="Screenshot 2025-10-31 at 9.12.34 AM"/>
          <p:cNvPicPr>
            <a:picLocks noChangeAspect="1"/>
          </p:cNvPicPr>
          <p:nvPr/>
        </p:nvPicPr>
        <p:blipFill>
          <a:blip r:embed="rId2"/>
          <a:stretch>
            <a:fillRect/>
          </a:stretch>
        </p:blipFill>
        <p:spPr>
          <a:xfrm>
            <a:off x="3181350" y="2695575"/>
            <a:ext cx="5829935" cy="3157855"/>
          </a:xfrm>
          <a:prstGeom prst="rect">
            <a:avLst/>
          </a:prstGeom>
        </p:spPr>
      </p:pic>
      <p:sp>
        <p:nvSpPr>
          <p:cNvPr id="6" name="Text Box 5"/>
          <p:cNvSpPr txBox="1"/>
          <p:nvPr/>
        </p:nvSpPr>
        <p:spPr>
          <a:xfrm>
            <a:off x="3556000" y="6094413"/>
            <a:ext cx="5080000" cy="368300"/>
          </a:xfrm>
          <a:prstGeom prst="rect">
            <a:avLst/>
          </a:prstGeom>
        </p:spPr>
        <p:txBody>
          <a:bodyPr>
            <a:spAutoFit/>
          </a:bodyPr>
          <a:lstStyle/>
          <a:p>
            <a:pPr algn="ctr"/>
            <a:r>
              <a:rPr>
                <a:solidFill>
                  <a:srgbClr val="000000"/>
                </a:solidFill>
                <a:latin typeface="Calibri"/>
                <a:ea typeface="Calibri"/>
              </a:rPr>
              <a:t>The flow of words makes sense!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Pragmatic Analysis</a:t>
            </a:r>
          </a:p>
        </p:txBody>
      </p:sp>
      <p:sp>
        <p:nvSpPr>
          <p:cNvPr id="4" name="Text Box 3"/>
          <p:cNvSpPr txBox="1"/>
          <p:nvPr/>
        </p:nvSpPr>
        <p:spPr>
          <a:xfrm>
            <a:off x="838200" y="1492250"/>
            <a:ext cx="10515600" cy="1337945"/>
          </a:xfrm>
          <a:prstGeom prst="rect">
            <a:avLst/>
          </a:prstGeom>
        </p:spPr>
        <p:txBody>
          <a:bodyPr wrap="square">
            <a:spAutoFit/>
          </a:bodyPr>
          <a:lstStyle/>
          <a:p>
            <a:pPr algn="just">
              <a:lnSpc>
                <a:spcPct val="150000"/>
              </a:lnSpc>
            </a:pPr>
            <a:r>
              <a:rPr dirty="0">
                <a:solidFill>
                  <a:srgbClr val="000000"/>
                </a:solidFill>
                <a:latin typeface="Calibri"/>
                <a:ea typeface="Calibri"/>
              </a:rPr>
              <a:t>In this stage, sentences are checked for their relevance in the real world. Pragmatic means practical or logical, i.e., this step requires knowledge of the intent in a sentence. It also means</a:t>
            </a:r>
            <a:r>
              <a:rPr lang="en-US" dirty="0">
                <a:solidFill>
                  <a:srgbClr val="000000"/>
                </a:solidFill>
                <a:latin typeface="Calibri"/>
                <a:ea typeface="Calibri"/>
              </a:rPr>
              <a:t> </a:t>
            </a:r>
            <a:r>
              <a:rPr dirty="0">
                <a:solidFill>
                  <a:srgbClr val="000000"/>
                </a:solidFill>
                <a:latin typeface="Calibri"/>
                <a:ea typeface="Calibri"/>
              </a:rPr>
              <a:t>to discard the actual word meaning taken after</a:t>
            </a:r>
            <a:r>
              <a:rPr lang="en-US" dirty="0">
                <a:solidFill>
                  <a:srgbClr val="000000"/>
                </a:solidFill>
                <a:latin typeface="Calibri"/>
                <a:ea typeface="Calibri"/>
              </a:rPr>
              <a:t> </a:t>
            </a:r>
            <a:r>
              <a:rPr dirty="0">
                <a:solidFill>
                  <a:srgbClr val="000000"/>
                </a:solidFill>
                <a:latin typeface="Calibri"/>
                <a:ea typeface="Calibri"/>
              </a:rPr>
              <a:t>semantic analysis and </a:t>
            </a:r>
            <a:r>
              <a:rPr i="1" u="sng" dirty="0">
                <a:solidFill>
                  <a:srgbClr val="000000"/>
                </a:solidFill>
                <a:latin typeface="Calibri"/>
                <a:ea typeface="Calibri"/>
              </a:rPr>
              <a:t>take the</a:t>
            </a:r>
            <a:r>
              <a:rPr lang="en-US" i="1" u="sng" dirty="0">
                <a:solidFill>
                  <a:srgbClr val="000000"/>
                </a:solidFill>
                <a:latin typeface="Calibri"/>
                <a:ea typeface="Calibri"/>
              </a:rPr>
              <a:t> </a:t>
            </a:r>
            <a:r>
              <a:rPr i="1" u="sng" dirty="0">
                <a:solidFill>
                  <a:srgbClr val="000000"/>
                </a:solidFill>
                <a:latin typeface="Calibri"/>
                <a:ea typeface="Calibri"/>
              </a:rPr>
              <a:t>intended meaning</a:t>
            </a:r>
            <a:r>
              <a:rPr dirty="0">
                <a:solidFill>
                  <a:srgbClr val="000000"/>
                </a:solidFill>
                <a:latin typeface="Calibri"/>
                <a:ea typeface="Calibri"/>
              </a:rPr>
              <a:t>.</a:t>
            </a:r>
          </a:p>
        </p:txBody>
      </p:sp>
      <p:pic>
        <p:nvPicPr>
          <p:cNvPr id="5" name="Picture 4" descr="Screenshot 2025-10-31 at 9.15.28 AM"/>
          <p:cNvPicPr>
            <a:picLocks noChangeAspect="1"/>
          </p:cNvPicPr>
          <p:nvPr/>
        </p:nvPicPr>
        <p:blipFill>
          <a:blip r:embed="rId2"/>
          <a:stretch>
            <a:fillRect/>
          </a:stretch>
        </p:blipFill>
        <p:spPr>
          <a:xfrm>
            <a:off x="3131820" y="3003550"/>
            <a:ext cx="5928995" cy="3118485"/>
          </a:xfrm>
          <a:prstGeom prst="rect">
            <a:avLst/>
          </a:prstGeom>
        </p:spPr>
      </p:pic>
      <p:sp>
        <p:nvSpPr>
          <p:cNvPr id="6" name="Text Box 5"/>
          <p:cNvSpPr txBox="1"/>
          <p:nvPr/>
        </p:nvSpPr>
        <p:spPr>
          <a:xfrm>
            <a:off x="3556000" y="6314123"/>
            <a:ext cx="5080000" cy="337185"/>
          </a:xfrm>
          <a:prstGeom prst="rect">
            <a:avLst/>
          </a:prstGeom>
        </p:spPr>
        <p:txBody>
          <a:bodyPr>
            <a:spAutoFit/>
          </a:bodyPr>
          <a:lstStyle/>
          <a:p>
            <a:pPr algn="ctr"/>
            <a:r>
              <a:rPr sz="1600">
                <a:solidFill>
                  <a:srgbClr val="000000"/>
                </a:solidFill>
                <a:latin typeface="Calibri"/>
                <a:ea typeface="Calibri"/>
              </a:rPr>
              <a:t>The intended meaning has been achieved!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5-10-31 at 9.17.04 AM"/>
          <p:cNvPicPr>
            <a:picLocks noChangeAspect="1"/>
          </p:cNvPicPr>
          <p:nvPr/>
        </p:nvPicPr>
        <p:blipFill>
          <a:blip r:embed="rId2"/>
          <a:stretch>
            <a:fillRect/>
          </a:stretch>
        </p:blipFill>
        <p:spPr>
          <a:xfrm>
            <a:off x="354330" y="1261110"/>
            <a:ext cx="11438890" cy="4335780"/>
          </a:xfrm>
          <a:prstGeom prst="rect">
            <a:avLst/>
          </a:prstGeom>
        </p:spPr>
      </p:pic>
      <p:sp>
        <p:nvSpPr>
          <p:cNvPr id="5" name="Text Box 4"/>
          <p:cNvSpPr txBox="1"/>
          <p:nvPr/>
        </p:nvSpPr>
        <p:spPr>
          <a:xfrm>
            <a:off x="354330" y="593725"/>
            <a:ext cx="4064000" cy="368300"/>
          </a:xfrm>
          <a:prstGeom prst="rect">
            <a:avLst/>
          </a:prstGeom>
          <a:noFill/>
        </p:spPr>
        <p:txBody>
          <a:bodyPr wrap="square" rtlCol="0">
            <a:spAutoFit/>
          </a:bodyPr>
          <a:lstStyle/>
          <a:p>
            <a:r>
              <a:rPr lang="en-US"/>
              <a:t>In summary,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Chatbots</a:t>
            </a:r>
          </a:p>
        </p:txBody>
      </p:sp>
      <p:sp>
        <p:nvSpPr>
          <p:cNvPr id="4" name="Text Box 3"/>
          <p:cNvSpPr txBox="1"/>
          <p:nvPr/>
        </p:nvSpPr>
        <p:spPr>
          <a:xfrm>
            <a:off x="838200" y="1691005"/>
            <a:ext cx="10515600" cy="1476375"/>
          </a:xfrm>
          <a:prstGeom prst="rect">
            <a:avLst/>
          </a:prstGeom>
        </p:spPr>
        <p:txBody>
          <a:bodyPr wrap="square">
            <a:spAutoFit/>
          </a:bodyPr>
          <a:lstStyle/>
          <a:p>
            <a:pPr algn="just"/>
            <a:r>
              <a:rPr dirty="0">
                <a:solidFill>
                  <a:srgbClr val="000000"/>
                </a:solidFill>
                <a:latin typeface="Calibri"/>
                <a:ea typeface="Calibri"/>
              </a:rPr>
              <a:t>One of the most common applications of Natural Language Processing is a chatbot. </a:t>
            </a:r>
            <a:r>
              <a:rPr u="sng" dirty="0">
                <a:solidFill>
                  <a:srgbClr val="000000"/>
                </a:solidFill>
                <a:latin typeface="Calibri"/>
                <a:ea typeface="Calibri"/>
              </a:rPr>
              <a:t>A chatbot is a computer program that's designed to simulate human conversation through voice commands or text chats or both</a:t>
            </a:r>
            <a:r>
              <a:rPr dirty="0">
                <a:solidFill>
                  <a:srgbClr val="000000"/>
                </a:solidFill>
                <a:latin typeface="Calibri"/>
                <a:ea typeface="Calibri"/>
              </a:rPr>
              <a:t>. It can learn over time how to best interact with humans. It can answer questions and troubleshoot customer problems, evaluate and qualify prospects, generate sales leads and increase sales on an ecommerce site. There are a lot of chatbots available. </a:t>
            </a:r>
          </a:p>
        </p:txBody>
      </p:sp>
      <p:pic>
        <p:nvPicPr>
          <p:cNvPr id="5" name="Picture 4" descr="Screenshot 2025-10-31 at 9.21.02 AM"/>
          <p:cNvPicPr>
            <a:picLocks noChangeAspect="1"/>
          </p:cNvPicPr>
          <p:nvPr/>
        </p:nvPicPr>
        <p:blipFill>
          <a:blip r:embed="rId2"/>
          <a:stretch>
            <a:fillRect/>
          </a:stretch>
        </p:blipFill>
        <p:spPr>
          <a:xfrm>
            <a:off x="1854200" y="3564255"/>
            <a:ext cx="8483600" cy="2349500"/>
          </a:xfrm>
          <a:prstGeom prst="rect">
            <a:avLst/>
          </a:prstGeom>
        </p:spPr>
      </p:pic>
      <p:pic>
        <p:nvPicPr>
          <p:cNvPr id="7" name="Picture 6" descr="Sign Activity PNG, Vector, PSD, and Clipart With Transparent Background for  Free Download | Pngtree">
            <a:extLst>
              <a:ext uri="{FF2B5EF4-FFF2-40B4-BE49-F238E27FC236}">
                <a16:creationId xmlns:a16="http://schemas.microsoft.com/office/drawing/2014/main" id="{7590FD0A-AE06-C7F0-75DA-BBFB68CE559E}"/>
              </a:ext>
            </a:extLst>
          </p:cNvPr>
          <p:cNvPicPr>
            <a:picLocks noChangeAspect="1"/>
          </p:cNvPicPr>
          <p:nvPr/>
        </p:nvPicPr>
        <p:blipFill>
          <a:blip r:embed="rId3"/>
          <a:stretch>
            <a:fillRect/>
          </a:stretch>
        </p:blipFill>
        <p:spPr>
          <a:xfrm>
            <a:off x="10322588" y="512300"/>
            <a:ext cx="1031212" cy="103121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5-10-31 at 9.22.14 AM"/>
          <p:cNvPicPr>
            <a:picLocks noChangeAspect="1"/>
          </p:cNvPicPr>
          <p:nvPr/>
        </p:nvPicPr>
        <p:blipFill>
          <a:blip r:embed="rId2"/>
          <a:stretch>
            <a:fillRect/>
          </a:stretch>
        </p:blipFill>
        <p:spPr>
          <a:xfrm>
            <a:off x="947420" y="1303020"/>
            <a:ext cx="4550410" cy="1572895"/>
          </a:xfrm>
          <a:prstGeom prst="rect">
            <a:avLst/>
          </a:prstGeom>
        </p:spPr>
      </p:pic>
      <p:sp>
        <p:nvSpPr>
          <p:cNvPr id="5" name="Text Box 4"/>
          <p:cNvSpPr txBox="1"/>
          <p:nvPr/>
        </p:nvSpPr>
        <p:spPr>
          <a:xfrm>
            <a:off x="947420" y="654685"/>
            <a:ext cx="8589010" cy="398780"/>
          </a:xfrm>
          <a:prstGeom prst="rect">
            <a:avLst/>
          </a:prstGeom>
          <a:noFill/>
        </p:spPr>
        <p:txBody>
          <a:bodyPr wrap="square" rtlCol="0" anchor="t">
            <a:spAutoFit/>
          </a:bodyPr>
          <a:lstStyle/>
          <a:p>
            <a:pPr algn="just"/>
            <a:r>
              <a:rPr sz="2000">
                <a:solidFill>
                  <a:srgbClr val="000000"/>
                </a:solidFill>
                <a:latin typeface="Calibri"/>
                <a:ea typeface="Calibri"/>
                <a:sym typeface="+mn-ea"/>
              </a:rPr>
              <a:t>Let us try some of the chatbots and see how they work.</a:t>
            </a:r>
            <a:endParaRPr lang="en-US" sz="2000">
              <a:solidFill>
                <a:srgbClr val="000000"/>
              </a:solidFill>
              <a:latin typeface="Calibri"/>
              <a:ea typeface="Calibri"/>
              <a:sym typeface="+mn-ea"/>
            </a:endParaRPr>
          </a:p>
        </p:txBody>
      </p:sp>
      <p:pic>
        <p:nvPicPr>
          <p:cNvPr id="6" name="Picture 5" descr="Screenshot 2025-10-31 at 9.24.09 AM"/>
          <p:cNvPicPr>
            <a:picLocks noChangeAspect="1"/>
          </p:cNvPicPr>
          <p:nvPr/>
        </p:nvPicPr>
        <p:blipFill>
          <a:blip r:embed="rId3"/>
          <a:stretch>
            <a:fillRect/>
          </a:stretch>
        </p:blipFill>
        <p:spPr>
          <a:xfrm>
            <a:off x="2052320" y="2964815"/>
            <a:ext cx="8087360" cy="35274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Text Processing</a:t>
            </a:r>
          </a:p>
        </p:txBody>
      </p:sp>
      <p:sp>
        <p:nvSpPr>
          <p:cNvPr id="4" name="Text Box 3"/>
          <p:cNvSpPr txBox="1"/>
          <p:nvPr/>
        </p:nvSpPr>
        <p:spPr>
          <a:xfrm>
            <a:off x="838200" y="1891030"/>
            <a:ext cx="10515600" cy="1337945"/>
          </a:xfrm>
          <a:prstGeom prst="rect">
            <a:avLst/>
          </a:prstGeom>
        </p:spPr>
        <p:txBody>
          <a:bodyPr wrap="square">
            <a:spAutoFit/>
          </a:bodyPr>
          <a:lstStyle/>
          <a:p>
            <a:pPr algn="just">
              <a:lnSpc>
                <a:spcPct val="150000"/>
              </a:lnSpc>
            </a:pPr>
            <a:r>
              <a:rPr lang="en-US">
                <a:solidFill>
                  <a:srgbClr val="000000"/>
                </a:solidFill>
                <a:latin typeface="Calibri"/>
                <a:ea typeface="Calibri"/>
              </a:rPr>
              <a:t>W</a:t>
            </a:r>
            <a:r>
              <a:rPr>
                <a:solidFill>
                  <a:srgbClr val="000000"/>
                </a:solidFill>
                <a:latin typeface="Calibri"/>
                <a:ea typeface="Calibri"/>
              </a:rPr>
              <a:t>e all know that the language of computers is</a:t>
            </a:r>
            <a:r>
              <a:rPr lang="en-US">
                <a:solidFill>
                  <a:srgbClr val="000000"/>
                </a:solidFill>
                <a:latin typeface="Calibri"/>
                <a:ea typeface="Calibri"/>
              </a:rPr>
              <a:t> </a:t>
            </a:r>
            <a:r>
              <a:rPr>
                <a:solidFill>
                  <a:srgbClr val="000000"/>
                </a:solidFill>
                <a:latin typeface="Calibri"/>
                <a:ea typeface="Calibri"/>
              </a:rPr>
              <a:t>Numerical, the very first step that comes to our mind isto convert our language to numbers. This conversion takes a few steps to happen. The first step to it is Text Normalisation.</a:t>
            </a:r>
          </a:p>
        </p:txBody>
      </p:sp>
      <p:sp>
        <p:nvSpPr>
          <p:cNvPr id="6" name="Text Box 5"/>
          <p:cNvSpPr txBox="1"/>
          <p:nvPr/>
        </p:nvSpPr>
        <p:spPr>
          <a:xfrm>
            <a:off x="857250" y="3429000"/>
            <a:ext cx="10497185" cy="1753235"/>
          </a:xfrm>
          <a:prstGeom prst="rect">
            <a:avLst/>
          </a:prstGeom>
        </p:spPr>
        <p:txBody>
          <a:bodyPr wrap="square">
            <a:spAutoFit/>
          </a:bodyPr>
          <a:lstStyle/>
          <a:p>
            <a:pPr algn="just">
              <a:lnSpc>
                <a:spcPct val="150000"/>
              </a:lnSpc>
            </a:pPr>
            <a:r>
              <a:rPr>
                <a:solidFill>
                  <a:srgbClr val="000000"/>
                </a:solidFill>
                <a:latin typeface="Calibri"/>
                <a:ea typeface="Calibri"/>
              </a:rPr>
              <a:t>In Text Normalisation, we undergo several steps to normalise the text to a lower level. Before we begin, we need to understand that in this section, we will be working on a collection of written text. That is, we will be working on text from multiple documents andthe term used for the whole textual data from all the documents altogether is known as </a:t>
            </a:r>
            <a:r>
              <a:rPr b="1">
                <a:solidFill>
                  <a:srgbClr val="000000"/>
                </a:solidFill>
                <a:latin typeface="Calibri"/>
                <a:ea typeface="Calibri"/>
              </a:rPr>
              <a:t>corpus</a:t>
            </a:r>
            <a:r>
              <a:rPr>
                <a:solidFill>
                  <a:srgbClr val="000000"/>
                </a:solidFill>
                <a:latin typeface="Calibri"/>
                <a:ea typeface="Calibri"/>
              </a:rPr>
              <a:t>.</a:t>
            </a:r>
          </a:p>
        </p:txBody>
      </p:sp>
      <p:pic>
        <p:nvPicPr>
          <p:cNvPr id="3" name="Picture 2" descr="Important PNG Transparent Images Free Download | Vector Files | Pngtree">
            <a:extLst>
              <a:ext uri="{FF2B5EF4-FFF2-40B4-BE49-F238E27FC236}">
                <a16:creationId xmlns:a16="http://schemas.microsoft.com/office/drawing/2014/main" id="{B8F2425D-A83A-328C-F303-83A96C1A5CC3}"/>
              </a:ext>
            </a:extLst>
          </p:cNvPr>
          <p:cNvPicPr>
            <a:picLocks noChangeAspect="1"/>
          </p:cNvPicPr>
          <p:nvPr/>
        </p:nvPicPr>
        <p:blipFill>
          <a:blip r:embed="rId2"/>
          <a:stretch>
            <a:fillRect/>
          </a:stretch>
        </p:blipFill>
        <p:spPr>
          <a:xfrm rot="20286742">
            <a:off x="10634715" y="21361"/>
            <a:ext cx="1438171" cy="143817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STEPS OF THE NORMALISATION</a:t>
            </a:r>
          </a:p>
        </p:txBody>
      </p:sp>
      <p:pic>
        <p:nvPicPr>
          <p:cNvPr id="4" name="Picture 3" descr="Screenshot 2025-10-31 at 9.35.36 AM"/>
          <p:cNvPicPr>
            <a:picLocks noChangeAspect="1"/>
          </p:cNvPicPr>
          <p:nvPr/>
        </p:nvPicPr>
        <p:blipFill>
          <a:blip r:embed="rId2"/>
          <a:stretch>
            <a:fillRect/>
          </a:stretch>
        </p:blipFill>
        <p:spPr>
          <a:xfrm>
            <a:off x="838835" y="2369185"/>
            <a:ext cx="10515600" cy="3220720"/>
          </a:xfrm>
          <a:prstGeom prst="rect">
            <a:avLst/>
          </a:prstGeom>
        </p:spPr>
      </p:pic>
      <p:pic>
        <p:nvPicPr>
          <p:cNvPr id="3" name="Picture 2" descr="Important PNG Transparent Images Free Download | Vector Files | Pngtree">
            <a:extLst>
              <a:ext uri="{FF2B5EF4-FFF2-40B4-BE49-F238E27FC236}">
                <a16:creationId xmlns:a16="http://schemas.microsoft.com/office/drawing/2014/main" id="{6F9C2A1A-D99E-C1D6-1878-523EE9114DC7}"/>
              </a:ext>
            </a:extLst>
          </p:cNvPr>
          <p:cNvPicPr>
            <a:picLocks noChangeAspect="1"/>
          </p:cNvPicPr>
          <p:nvPr/>
        </p:nvPicPr>
        <p:blipFill>
          <a:blip r:embed="rId3"/>
          <a:stretch>
            <a:fillRect/>
          </a:stretch>
        </p:blipFill>
        <p:spPr>
          <a:xfrm rot="20286742">
            <a:off x="8137908" y="120580"/>
            <a:ext cx="1438171" cy="143817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Sentence Segmentation</a:t>
            </a:r>
          </a:p>
        </p:txBody>
      </p:sp>
      <p:pic>
        <p:nvPicPr>
          <p:cNvPr id="4" name="Picture 3" descr="Screenshot 2025-10-31 at 9.37.17 AM"/>
          <p:cNvPicPr>
            <a:picLocks noChangeAspect="1"/>
          </p:cNvPicPr>
          <p:nvPr/>
        </p:nvPicPr>
        <p:blipFill>
          <a:blip r:embed="rId2"/>
          <a:srcRect t="15741"/>
          <a:stretch>
            <a:fillRect/>
          </a:stretch>
        </p:blipFill>
        <p:spPr>
          <a:xfrm>
            <a:off x="1943100" y="2550160"/>
            <a:ext cx="8305800" cy="3681095"/>
          </a:xfrm>
          <a:prstGeom prst="rect">
            <a:avLst/>
          </a:prstGeom>
        </p:spPr>
      </p:pic>
      <p:sp>
        <p:nvSpPr>
          <p:cNvPr id="5" name="Text Box 4"/>
          <p:cNvSpPr txBox="1"/>
          <p:nvPr/>
        </p:nvSpPr>
        <p:spPr>
          <a:xfrm>
            <a:off x="838200" y="1473835"/>
            <a:ext cx="10515600" cy="880369"/>
          </a:xfrm>
          <a:prstGeom prst="rect">
            <a:avLst/>
          </a:prstGeom>
        </p:spPr>
        <p:txBody>
          <a:bodyPr wrap="square">
            <a:spAutoFit/>
          </a:bodyPr>
          <a:lstStyle/>
          <a:p>
            <a:pPr algn="just">
              <a:lnSpc>
                <a:spcPct val="150000"/>
              </a:lnSpc>
            </a:pPr>
            <a:r>
              <a:rPr dirty="0">
                <a:solidFill>
                  <a:srgbClr val="000000"/>
                </a:solidFill>
                <a:latin typeface="Calibri"/>
                <a:ea typeface="Calibri"/>
              </a:rPr>
              <a:t>Under sentence segmentation, the </a:t>
            </a:r>
            <a:r>
              <a:rPr i="1" u="sng" dirty="0">
                <a:solidFill>
                  <a:srgbClr val="000000"/>
                </a:solidFill>
                <a:latin typeface="Calibri"/>
                <a:ea typeface="Calibri"/>
              </a:rPr>
              <a:t>whole corpus is divided into sentences</a:t>
            </a:r>
            <a:r>
              <a:rPr dirty="0">
                <a:solidFill>
                  <a:srgbClr val="000000"/>
                </a:solidFill>
                <a:latin typeface="Calibri"/>
                <a:ea typeface="Calibri"/>
              </a:rPr>
              <a:t>. Each sentence is taken as a different data so now the whole corpus gets reduced to sentences.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Tokenization</a:t>
            </a:r>
          </a:p>
        </p:txBody>
      </p:sp>
      <p:sp>
        <p:nvSpPr>
          <p:cNvPr id="4" name="Text Box 3"/>
          <p:cNvSpPr txBox="1"/>
          <p:nvPr/>
        </p:nvSpPr>
        <p:spPr>
          <a:xfrm>
            <a:off x="838200" y="1691005"/>
            <a:ext cx="10515600" cy="880369"/>
          </a:xfrm>
          <a:prstGeom prst="rect">
            <a:avLst/>
          </a:prstGeom>
        </p:spPr>
        <p:txBody>
          <a:bodyPr wrap="square">
            <a:spAutoFit/>
          </a:bodyPr>
          <a:lstStyle/>
          <a:p>
            <a:pPr>
              <a:lnSpc>
                <a:spcPct val="150000"/>
              </a:lnSpc>
            </a:pPr>
            <a:r>
              <a:rPr dirty="0">
                <a:solidFill>
                  <a:srgbClr val="000000"/>
                </a:solidFill>
                <a:latin typeface="Calibri"/>
                <a:ea typeface="Calibri"/>
              </a:rPr>
              <a:t>After segmenting the sentences, </a:t>
            </a:r>
            <a:r>
              <a:rPr i="1" u="sng" dirty="0">
                <a:solidFill>
                  <a:srgbClr val="000000"/>
                </a:solidFill>
                <a:latin typeface="Calibri"/>
                <a:ea typeface="Calibri"/>
              </a:rPr>
              <a:t>each sentence is then further divided into tokens</a:t>
            </a:r>
            <a:r>
              <a:rPr dirty="0">
                <a:solidFill>
                  <a:srgbClr val="000000"/>
                </a:solidFill>
                <a:latin typeface="Calibri"/>
                <a:ea typeface="Calibri"/>
              </a:rPr>
              <a:t>. Tokens is a term used for any word or number or special character occurring in a sentence.</a:t>
            </a:r>
          </a:p>
        </p:txBody>
      </p:sp>
      <p:pic>
        <p:nvPicPr>
          <p:cNvPr id="5" name="Picture 4" descr="Screenshot 2025-10-31 at 9.39.41 AM"/>
          <p:cNvPicPr>
            <a:picLocks noChangeAspect="1"/>
          </p:cNvPicPr>
          <p:nvPr/>
        </p:nvPicPr>
        <p:blipFill>
          <a:blip r:embed="rId2"/>
          <a:stretch>
            <a:fillRect/>
          </a:stretch>
        </p:blipFill>
        <p:spPr>
          <a:xfrm>
            <a:off x="2025650" y="2930525"/>
            <a:ext cx="8140700" cy="31623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Removing Stop words, Special Characters and Numbers </a:t>
            </a:r>
          </a:p>
        </p:txBody>
      </p:sp>
      <p:sp>
        <p:nvSpPr>
          <p:cNvPr id="4" name="Text Box 3"/>
          <p:cNvSpPr txBox="1"/>
          <p:nvPr/>
        </p:nvSpPr>
        <p:spPr>
          <a:xfrm>
            <a:off x="838200" y="1872615"/>
            <a:ext cx="10515600" cy="645160"/>
          </a:xfrm>
          <a:prstGeom prst="rect">
            <a:avLst/>
          </a:prstGeom>
        </p:spPr>
        <p:txBody>
          <a:bodyPr wrap="square">
            <a:spAutoFit/>
          </a:bodyPr>
          <a:lstStyle/>
          <a:p>
            <a:r>
              <a:rPr dirty="0">
                <a:solidFill>
                  <a:srgbClr val="000000"/>
                </a:solidFill>
                <a:latin typeface="Calibri"/>
                <a:ea typeface="Calibri"/>
              </a:rPr>
              <a:t>In this</a:t>
            </a:r>
            <a:r>
              <a:rPr lang="en-US" dirty="0">
                <a:solidFill>
                  <a:srgbClr val="000000"/>
                </a:solidFill>
                <a:latin typeface="Calibri"/>
                <a:ea typeface="Calibri"/>
              </a:rPr>
              <a:t> </a:t>
            </a:r>
            <a:r>
              <a:rPr dirty="0">
                <a:solidFill>
                  <a:srgbClr val="000000"/>
                </a:solidFill>
                <a:latin typeface="Calibri"/>
                <a:ea typeface="Calibri"/>
              </a:rPr>
              <a:t>step, the </a:t>
            </a:r>
            <a:r>
              <a:rPr i="1" u="sng" dirty="0">
                <a:solidFill>
                  <a:srgbClr val="000000"/>
                </a:solidFill>
                <a:latin typeface="Calibri"/>
                <a:ea typeface="Calibri"/>
              </a:rPr>
              <a:t>tokens which are not necessary are removed from the token list</a:t>
            </a:r>
            <a:r>
              <a:rPr dirty="0">
                <a:solidFill>
                  <a:srgbClr val="000000"/>
                </a:solidFill>
                <a:latin typeface="Calibri"/>
                <a:ea typeface="Calibri"/>
              </a:rPr>
              <a:t>. What are</a:t>
            </a:r>
            <a:r>
              <a:rPr lang="en-US" dirty="0">
                <a:solidFill>
                  <a:srgbClr val="000000"/>
                </a:solidFill>
                <a:latin typeface="Calibri"/>
                <a:ea typeface="Calibri"/>
              </a:rPr>
              <a:t> </a:t>
            </a:r>
            <a:r>
              <a:rPr dirty="0">
                <a:solidFill>
                  <a:srgbClr val="000000"/>
                </a:solidFill>
                <a:latin typeface="Calibri"/>
                <a:ea typeface="Calibri"/>
              </a:rPr>
              <a:t>the possible words which we might not require?</a:t>
            </a:r>
          </a:p>
        </p:txBody>
      </p:sp>
      <p:pic>
        <p:nvPicPr>
          <p:cNvPr id="5" name="Picture 4" descr="Screenshot 2025-10-31 at 9.41.24 AM"/>
          <p:cNvPicPr>
            <a:picLocks noChangeAspect="1"/>
          </p:cNvPicPr>
          <p:nvPr/>
        </p:nvPicPr>
        <p:blipFill>
          <a:blip r:embed="rId2"/>
          <a:stretch>
            <a:fillRect/>
          </a:stretch>
        </p:blipFill>
        <p:spPr>
          <a:xfrm>
            <a:off x="2846705" y="2790190"/>
            <a:ext cx="6499225" cy="2423160"/>
          </a:xfrm>
          <a:prstGeom prst="rect">
            <a:avLst/>
          </a:prstGeom>
        </p:spPr>
      </p:pic>
      <p:sp>
        <p:nvSpPr>
          <p:cNvPr id="6" name="Text Box 5"/>
          <p:cNvSpPr txBox="1"/>
          <p:nvPr/>
        </p:nvSpPr>
        <p:spPr>
          <a:xfrm>
            <a:off x="837565" y="5485765"/>
            <a:ext cx="10515600" cy="922020"/>
          </a:xfrm>
          <a:prstGeom prst="rect">
            <a:avLst/>
          </a:prstGeom>
        </p:spPr>
        <p:txBody>
          <a:bodyPr wrap="square">
            <a:spAutoFit/>
          </a:bodyPr>
          <a:lstStyle/>
          <a:p>
            <a:pPr algn="just"/>
            <a:r>
              <a:rPr>
                <a:solidFill>
                  <a:srgbClr val="000000"/>
                </a:solidFill>
                <a:latin typeface="Calibri"/>
                <a:ea typeface="Calibri"/>
              </a:rPr>
              <a:t>These words occur the most in any given corpus but talk very little or nothing about the context or the meaning of it. Hence, to make it easier for the computer to focus on meaningful terms, these words are removed.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Converting text to a Common Case</a:t>
            </a:r>
          </a:p>
        </p:txBody>
      </p:sp>
      <p:sp>
        <p:nvSpPr>
          <p:cNvPr id="4" name="Text Box 3"/>
          <p:cNvSpPr txBox="1"/>
          <p:nvPr/>
        </p:nvSpPr>
        <p:spPr>
          <a:xfrm>
            <a:off x="838200" y="1691005"/>
            <a:ext cx="10515600" cy="1337945"/>
          </a:xfrm>
          <a:prstGeom prst="rect">
            <a:avLst/>
          </a:prstGeom>
        </p:spPr>
        <p:txBody>
          <a:bodyPr wrap="square">
            <a:spAutoFit/>
          </a:bodyPr>
          <a:lstStyle/>
          <a:p>
            <a:pPr algn="just">
              <a:lnSpc>
                <a:spcPct val="150000"/>
              </a:lnSpc>
            </a:pPr>
            <a:r>
              <a:rPr dirty="0">
                <a:solidFill>
                  <a:srgbClr val="000000"/>
                </a:solidFill>
                <a:latin typeface="Calibri"/>
                <a:ea typeface="Calibri"/>
              </a:rPr>
              <a:t>After the stop </a:t>
            </a:r>
            <a:r>
              <a:rPr dirty="0" err="1">
                <a:solidFill>
                  <a:srgbClr val="000000"/>
                </a:solidFill>
                <a:latin typeface="Calibri"/>
                <a:ea typeface="Calibri"/>
              </a:rPr>
              <a:t>wordsremoval</a:t>
            </a:r>
            <a:r>
              <a:rPr dirty="0">
                <a:solidFill>
                  <a:srgbClr val="000000"/>
                </a:solidFill>
                <a:latin typeface="Calibri"/>
                <a:ea typeface="Calibri"/>
              </a:rPr>
              <a:t>, </a:t>
            </a:r>
            <a:r>
              <a:rPr i="1" u="sng" dirty="0">
                <a:solidFill>
                  <a:srgbClr val="000000"/>
                </a:solidFill>
                <a:latin typeface="Calibri"/>
                <a:ea typeface="Calibri"/>
              </a:rPr>
              <a:t>we convert the whole text into a similar case</a:t>
            </a:r>
            <a:r>
              <a:rPr dirty="0">
                <a:solidFill>
                  <a:srgbClr val="000000"/>
                </a:solidFill>
                <a:latin typeface="Calibri"/>
                <a:ea typeface="Calibri"/>
              </a:rPr>
              <a:t>, preferably lowercase. This ensures that the case sensitivity of the machine does not consider the same words as different just because of different cases.</a:t>
            </a:r>
          </a:p>
        </p:txBody>
      </p:sp>
      <p:pic>
        <p:nvPicPr>
          <p:cNvPr id="5" name="Picture 4" descr="Screenshot 2025-10-31 at 9.44.18 AM"/>
          <p:cNvPicPr>
            <a:picLocks noChangeAspect="1"/>
          </p:cNvPicPr>
          <p:nvPr/>
        </p:nvPicPr>
        <p:blipFill>
          <a:blip r:embed="rId2"/>
          <a:stretch>
            <a:fillRect/>
          </a:stretch>
        </p:blipFill>
        <p:spPr>
          <a:xfrm>
            <a:off x="3800475" y="3057525"/>
            <a:ext cx="4591685" cy="2094865"/>
          </a:xfrm>
          <a:prstGeom prst="rect">
            <a:avLst/>
          </a:prstGeom>
        </p:spPr>
      </p:pic>
      <p:sp>
        <p:nvSpPr>
          <p:cNvPr id="6" name="Text Box 5"/>
          <p:cNvSpPr txBox="1"/>
          <p:nvPr/>
        </p:nvSpPr>
        <p:spPr>
          <a:xfrm>
            <a:off x="838200" y="5332095"/>
            <a:ext cx="10515600" cy="922020"/>
          </a:xfrm>
          <a:prstGeom prst="rect">
            <a:avLst/>
          </a:prstGeom>
        </p:spPr>
        <p:txBody>
          <a:bodyPr wrap="square">
            <a:spAutoFit/>
          </a:bodyPr>
          <a:lstStyle/>
          <a:p>
            <a:pPr algn="just">
              <a:lnSpc>
                <a:spcPct val="150000"/>
              </a:lnSpc>
            </a:pPr>
            <a:r>
              <a:rPr>
                <a:solidFill>
                  <a:srgbClr val="000000"/>
                </a:solidFill>
                <a:latin typeface="Calibri"/>
                <a:ea typeface="Calibri"/>
              </a:rPr>
              <a:t>Here in this example, all the 6 forms of hello would be converted to lowercase and hence would be treated as the same word by the machine.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Stemming</a:t>
            </a:r>
          </a:p>
        </p:txBody>
      </p:sp>
      <p:sp>
        <p:nvSpPr>
          <p:cNvPr id="4" name="Text Box 3"/>
          <p:cNvSpPr txBox="1"/>
          <p:nvPr/>
        </p:nvSpPr>
        <p:spPr>
          <a:xfrm>
            <a:off x="838200" y="1691005"/>
            <a:ext cx="10515600" cy="829945"/>
          </a:xfrm>
          <a:prstGeom prst="rect">
            <a:avLst/>
          </a:prstGeom>
        </p:spPr>
        <p:txBody>
          <a:bodyPr wrap="square">
            <a:spAutoFit/>
          </a:bodyPr>
          <a:lstStyle/>
          <a:p>
            <a:pPr algn="just">
              <a:lnSpc>
                <a:spcPct val="150000"/>
              </a:lnSpc>
            </a:pPr>
            <a:r>
              <a:rPr sz="1600">
                <a:solidFill>
                  <a:srgbClr val="000000"/>
                </a:solidFill>
                <a:latin typeface="Calibri"/>
                <a:ea typeface="Calibri"/>
              </a:rPr>
              <a:t>In this step, the remaining words are reduced to their root words. In other words,stemmingis the process in which the affixes of words are removed and the words are converted to their base form.</a:t>
            </a:r>
          </a:p>
        </p:txBody>
      </p:sp>
      <p:pic>
        <p:nvPicPr>
          <p:cNvPr id="5" name="Picture 4" descr="Screenshot 2025-10-31 at 9.46.04 AM"/>
          <p:cNvPicPr>
            <a:picLocks noChangeAspect="1"/>
          </p:cNvPicPr>
          <p:nvPr/>
        </p:nvPicPr>
        <p:blipFill>
          <a:blip r:embed="rId2"/>
          <a:stretch>
            <a:fillRect/>
          </a:stretch>
        </p:blipFill>
        <p:spPr>
          <a:xfrm>
            <a:off x="3222625" y="2785745"/>
            <a:ext cx="5746750" cy="2143760"/>
          </a:xfrm>
          <a:prstGeom prst="rect">
            <a:avLst/>
          </a:prstGeom>
        </p:spPr>
      </p:pic>
      <p:sp>
        <p:nvSpPr>
          <p:cNvPr id="6" name="Text Box 5"/>
          <p:cNvSpPr txBox="1"/>
          <p:nvPr/>
        </p:nvSpPr>
        <p:spPr>
          <a:xfrm>
            <a:off x="838200" y="5194300"/>
            <a:ext cx="10516235" cy="1076325"/>
          </a:xfrm>
          <a:prstGeom prst="rect">
            <a:avLst/>
          </a:prstGeom>
        </p:spPr>
        <p:txBody>
          <a:bodyPr wrap="square">
            <a:spAutoFit/>
          </a:bodyPr>
          <a:lstStyle/>
          <a:p>
            <a:pPr algn="just"/>
            <a:r>
              <a:rPr sz="1600">
                <a:solidFill>
                  <a:srgbClr val="000000"/>
                </a:solidFill>
                <a:latin typeface="Calibri"/>
                <a:ea typeface="Calibri"/>
              </a:rPr>
              <a:t>Note that in stemming, the stemmed words (words that we get after removing the affixes) might not be meaningful. Here in this example as you can see: healed, healing and healer all were reduced to heal but studies was reduced to studi after the affix removal which is not a meaningful word. </a:t>
            </a:r>
            <a:r>
              <a:rPr sz="1600" b="1" i="1" u="sng">
                <a:solidFill>
                  <a:srgbClr val="000000"/>
                </a:solidFill>
                <a:latin typeface="Calibri"/>
                <a:ea typeface="Calibri"/>
              </a:rPr>
              <a:t>Stemming does not take into account whether the stemmed word is meaningful or not.</a:t>
            </a:r>
            <a:r>
              <a:rPr sz="1600">
                <a:solidFill>
                  <a:srgbClr val="000000"/>
                </a:solidFill>
                <a:latin typeface="Calibri"/>
                <a:ea typeface="Calibri"/>
              </a:rPr>
              <a:t> It just removes the affixes hence it is faster.</a:t>
            </a:r>
          </a:p>
        </p:txBody>
      </p:sp>
      <p:pic>
        <p:nvPicPr>
          <p:cNvPr id="3" name="Picture 2" descr="Important PNG, Vector, PSD, and Clipart With Transparent Background for  Free Download | Pngtree">
            <a:extLst>
              <a:ext uri="{FF2B5EF4-FFF2-40B4-BE49-F238E27FC236}">
                <a16:creationId xmlns:a16="http://schemas.microsoft.com/office/drawing/2014/main" id="{4F961A5E-0CE9-1E59-FA03-57DB531C6764}"/>
              </a:ext>
            </a:extLst>
          </p:cNvPr>
          <p:cNvPicPr>
            <a:picLocks noChangeAspect="1"/>
          </p:cNvPicPr>
          <p:nvPr/>
        </p:nvPicPr>
        <p:blipFill>
          <a:blip r:embed="rId3"/>
          <a:stretch>
            <a:fillRect/>
          </a:stretch>
        </p:blipFill>
        <p:spPr>
          <a:xfrm>
            <a:off x="3222625" y="342106"/>
            <a:ext cx="1146810" cy="685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Lemmatization</a:t>
            </a:r>
          </a:p>
        </p:txBody>
      </p:sp>
      <p:sp>
        <p:nvSpPr>
          <p:cNvPr id="4" name="Text Box 3"/>
          <p:cNvSpPr txBox="1"/>
          <p:nvPr/>
        </p:nvSpPr>
        <p:spPr>
          <a:xfrm>
            <a:off x="838200" y="1582420"/>
            <a:ext cx="10515600" cy="2168525"/>
          </a:xfrm>
          <a:prstGeom prst="rect">
            <a:avLst/>
          </a:prstGeom>
        </p:spPr>
        <p:txBody>
          <a:bodyPr wrap="square">
            <a:spAutoFit/>
          </a:bodyPr>
          <a:lstStyle/>
          <a:p>
            <a:pPr algn="just">
              <a:lnSpc>
                <a:spcPct val="150000"/>
              </a:lnSpc>
            </a:pPr>
            <a:r>
              <a:rPr>
                <a:solidFill>
                  <a:srgbClr val="000000"/>
                </a:solidFill>
                <a:latin typeface="Calibri"/>
                <a:ea typeface="Calibri"/>
              </a:rPr>
              <a:t>Stemming and lemmatization both are alternative processes to each other as the role of both the processes is same – removal of affixes. But the difference between both of them isthat in lemmatization, the word we get after affix removal (also known as lemma) is a meaningful one.Lemmatization makes sure that a lemma is a word with meaning and hence it takes a longer time to execute than stemming.</a:t>
            </a:r>
          </a:p>
        </p:txBody>
      </p:sp>
      <p:pic>
        <p:nvPicPr>
          <p:cNvPr id="5" name="Picture 4" descr="Screenshot 2025-10-31 at 9.49.16 AM"/>
          <p:cNvPicPr>
            <a:picLocks noChangeAspect="1"/>
          </p:cNvPicPr>
          <p:nvPr/>
        </p:nvPicPr>
        <p:blipFill>
          <a:blip r:embed="rId2"/>
          <a:stretch>
            <a:fillRect/>
          </a:stretch>
        </p:blipFill>
        <p:spPr>
          <a:xfrm>
            <a:off x="838200" y="3962400"/>
            <a:ext cx="4397375" cy="2009775"/>
          </a:xfrm>
          <a:prstGeom prst="rect">
            <a:avLst/>
          </a:prstGeom>
        </p:spPr>
      </p:pic>
      <p:sp>
        <p:nvSpPr>
          <p:cNvPr id="6" name="Text Box 5"/>
          <p:cNvSpPr txBox="1"/>
          <p:nvPr/>
        </p:nvSpPr>
        <p:spPr>
          <a:xfrm>
            <a:off x="5457825" y="3553460"/>
            <a:ext cx="5895975" cy="645160"/>
          </a:xfrm>
          <a:prstGeom prst="rect">
            <a:avLst/>
          </a:prstGeom>
        </p:spPr>
        <p:txBody>
          <a:bodyPr wrap="square">
            <a:spAutoFit/>
          </a:bodyPr>
          <a:lstStyle/>
          <a:p>
            <a:pPr algn="just"/>
            <a:r>
              <a:rPr>
                <a:solidFill>
                  <a:srgbClr val="000000"/>
                </a:solidFill>
                <a:latin typeface="Calibri"/>
                <a:ea typeface="Calibri"/>
              </a:rPr>
              <a:t>The difference between stemming and lemmatization can be summarized by this example:</a:t>
            </a:r>
          </a:p>
        </p:txBody>
      </p:sp>
      <p:pic>
        <p:nvPicPr>
          <p:cNvPr id="7" name="Picture 6" descr="Screenshot 2025-10-31 at 9.50.27 AM"/>
          <p:cNvPicPr>
            <a:picLocks noChangeAspect="1"/>
          </p:cNvPicPr>
          <p:nvPr/>
        </p:nvPicPr>
        <p:blipFill>
          <a:blip r:embed="rId3"/>
          <a:stretch>
            <a:fillRect/>
          </a:stretch>
        </p:blipFill>
        <p:spPr>
          <a:xfrm>
            <a:off x="6522720" y="4578985"/>
            <a:ext cx="3766185" cy="1227455"/>
          </a:xfrm>
          <a:prstGeom prst="rect">
            <a:avLst/>
          </a:prstGeom>
        </p:spPr>
      </p:pic>
      <p:pic>
        <p:nvPicPr>
          <p:cNvPr id="8" name="Picture 7" descr="Important PNG, Vector, PSD, and Clipart With Transparent Background for  Free Download | Pngtree">
            <a:extLst>
              <a:ext uri="{FF2B5EF4-FFF2-40B4-BE49-F238E27FC236}">
                <a16:creationId xmlns:a16="http://schemas.microsoft.com/office/drawing/2014/main" id="{BDA1C3E9-26C2-82BA-EEFF-4B07533E8761}"/>
              </a:ext>
            </a:extLst>
          </p:cNvPr>
          <p:cNvPicPr>
            <a:picLocks noChangeAspect="1"/>
          </p:cNvPicPr>
          <p:nvPr/>
        </p:nvPicPr>
        <p:blipFill>
          <a:blip r:embed="rId4"/>
          <a:stretch>
            <a:fillRect/>
          </a:stretch>
        </p:blipFill>
        <p:spPr>
          <a:xfrm>
            <a:off x="4418378" y="308134"/>
            <a:ext cx="1146810" cy="685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Bag of Words</a:t>
            </a:r>
          </a:p>
        </p:txBody>
      </p:sp>
      <p:pic>
        <p:nvPicPr>
          <p:cNvPr id="4" name="Picture 3" descr="Screenshot 2025-10-31 at 11.01.04 AM"/>
          <p:cNvPicPr>
            <a:picLocks noChangeAspect="1"/>
          </p:cNvPicPr>
          <p:nvPr/>
        </p:nvPicPr>
        <p:blipFill>
          <a:blip r:embed="rId2"/>
          <a:stretch>
            <a:fillRect/>
          </a:stretch>
        </p:blipFill>
        <p:spPr>
          <a:xfrm>
            <a:off x="838200" y="2413000"/>
            <a:ext cx="5755640" cy="3505200"/>
          </a:xfrm>
          <a:prstGeom prst="rect">
            <a:avLst/>
          </a:prstGeom>
        </p:spPr>
      </p:pic>
      <p:sp>
        <p:nvSpPr>
          <p:cNvPr id="5" name="Text Box 4"/>
          <p:cNvSpPr txBox="1"/>
          <p:nvPr/>
        </p:nvSpPr>
        <p:spPr>
          <a:xfrm>
            <a:off x="838200" y="1418590"/>
            <a:ext cx="10515600" cy="829945"/>
          </a:xfrm>
          <a:prstGeom prst="rect">
            <a:avLst/>
          </a:prstGeom>
        </p:spPr>
        <p:txBody>
          <a:bodyPr wrap="square">
            <a:spAutoFit/>
          </a:bodyPr>
          <a:lstStyle/>
          <a:p>
            <a:pPr algn="just"/>
            <a:r>
              <a:rPr sz="1600" dirty="0">
                <a:solidFill>
                  <a:srgbClr val="000000"/>
                </a:solidFill>
                <a:latin typeface="Calibri"/>
                <a:ea typeface="Calibri"/>
              </a:rPr>
              <a:t>Bag of Words is a </a:t>
            </a:r>
            <a:r>
              <a:rPr sz="1600" dirty="0">
                <a:solidFill>
                  <a:srgbClr val="000000"/>
                </a:solidFill>
                <a:highlight>
                  <a:srgbClr val="FFFF00"/>
                </a:highlight>
                <a:latin typeface="Calibri"/>
                <a:ea typeface="Calibri"/>
              </a:rPr>
              <a:t>Natural Language Processing model </a:t>
            </a:r>
            <a:r>
              <a:rPr sz="1600" dirty="0">
                <a:solidFill>
                  <a:srgbClr val="000000"/>
                </a:solidFill>
                <a:latin typeface="Calibri"/>
                <a:ea typeface="Calibri"/>
              </a:rPr>
              <a:t>which helps in </a:t>
            </a:r>
            <a:r>
              <a:rPr sz="1600" u="sng" dirty="0">
                <a:solidFill>
                  <a:srgbClr val="000000"/>
                </a:solidFill>
                <a:latin typeface="Calibri"/>
                <a:ea typeface="Calibri"/>
              </a:rPr>
              <a:t>extracting features out of the text </a:t>
            </a:r>
            <a:r>
              <a:rPr sz="1600" dirty="0">
                <a:solidFill>
                  <a:srgbClr val="000000"/>
                </a:solidFill>
                <a:latin typeface="Calibri"/>
                <a:ea typeface="Calibri"/>
              </a:rPr>
              <a:t>which can be helpful in machine learning algorithms. In the bag of words, we get the occurrences of each word and construct the vocabulary for the corpus.</a:t>
            </a:r>
          </a:p>
        </p:txBody>
      </p:sp>
      <p:sp>
        <p:nvSpPr>
          <p:cNvPr id="6" name="Text Box 5"/>
          <p:cNvSpPr txBox="1"/>
          <p:nvPr/>
        </p:nvSpPr>
        <p:spPr>
          <a:xfrm>
            <a:off x="6799580" y="2897822"/>
            <a:ext cx="5080000" cy="2308324"/>
          </a:xfrm>
          <a:prstGeom prst="rect">
            <a:avLst/>
          </a:prstGeom>
        </p:spPr>
        <p:txBody>
          <a:bodyPr>
            <a:spAutoFit/>
          </a:bodyPr>
          <a:lstStyle/>
          <a:p>
            <a:r>
              <a:rPr sz="1600" dirty="0">
                <a:solidFill>
                  <a:srgbClr val="000000"/>
                </a:solidFill>
                <a:latin typeface="Calibri"/>
                <a:ea typeface="Calibri"/>
              </a:rPr>
              <a:t>Thus, we can say that the bag of words gives us two things: </a:t>
            </a:r>
          </a:p>
          <a:p>
            <a:r>
              <a:rPr sz="1600" dirty="0">
                <a:solidFill>
                  <a:srgbClr val="000000"/>
                </a:solidFill>
                <a:latin typeface="Calibri"/>
                <a:ea typeface="Calibri"/>
              </a:rPr>
              <a:t>1. </a:t>
            </a:r>
            <a:r>
              <a:rPr sz="1600" i="1" u="sng" dirty="0">
                <a:solidFill>
                  <a:srgbClr val="000000"/>
                </a:solidFill>
                <a:latin typeface="Calibri"/>
                <a:ea typeface="Calibri"/>
              </a:rPr>
              <a:t>A vocabulary of words for the corpus </a:t>
            </a:r>
          </a:p>
          <a:p>
            <a:r>
              <a:rPr sz="1600" dirty="0">
                <a:solidFill>
                  <a:srgbClr val="000000"/>
                </a:solidFill>
                <a:latin typeface="Calibri"/>
                <a:ea typeface="Calibri"/>
              </a:rPr>
              <a:t>2. </a:t>
            </a:r>
            <a:r>
              <a:rPr sz="1600" i="1" u="sng" dirty="0">
                <a:solidFill>
                  <a:srgbClr val="000000"/>
                </a:solidFill>
                <a:latin typeface="Calibri"/>
                <a:ea typeface="Calibri"/>
              </a:rPr>
              <a:t>The frequency of these words </a:t>
            </a:r>
            <a:r>
              <a:rPr sz="1600" dirty="0">
                <a:solidFill>
                  <a:srgbClr val="000000"/>
                </a:solidFill>
                <a:latin typeface="Calibri"/>
                <a:ea typeface="Calibri"/>
              </a:rPr>
              <a:t>(number of times it has occurred in the whole corpus). </a:t>
            </a:r>
          </a:p>
          <a:p>
            <a:endParaRPr sz="1600" dirty="0">
              <a:solidFill>
                <a:srgbClr val="000000"/>
              </a:solidFill>
              <a:latin typeface="Calibri"/>
              <a:ea typeface="Calibri"/>
            </a:endParaRPr>
          </a:p>
          <a:p>
            <a:pPr algn="just"/>
            <a:r>
              <a:rPr sz="1600" dirty="0">
                <a:solidFill>
                  <a:srgbClr val="000000"/>
                </a:solidFill>
                <a:latin typeface="Calibri"/>
                <a:ea typeface="Calibri"/>
              </a:rPr>
              <a:t>Here calling this algorithm a “bag” of words symbolizes that the sequence of sentences or tokens does not matter. In this case, all we need are the unique words and their frequency.</a:t>
            </a:r>
          </a:p>
        </p:txBody>
      </p:sp>
      <p:pic>
        <p:nvPicPr>
          <p:cNvPr id="3" name="Picture 2" descr="Important PNG, Vector, PSD, and Clipart With Transparent Background for  Free Download | Pngtree">
            <a:extLst>
              <a:ext uri="{FF2B5EF4-FFF2-40B4-BE49-F238E27FC236}">
                <a16:creationId xmlns:a16="http://schemas.microsoft.com/office/drawing/2014/main" id="{5A6E8A38-384F-A0FA-FA85-39B0603A363D}"/>
              </a:ext>
            </a:extLst>
          </p:cNvPr>
          <p:cNvPicPr>
            <a:picLocks noChangeAspect="1"/>
          </p:cNvPicPr>
          <p:nvPr/>
        </p:nvPicPr>
        <p:blipFill>
          <a:blip r:embed="rId3"/>
          <a:stretch>
            <a:fillRect/>
          </a:stretch>
        </p:blipFill>
        <p:spPr>
          <a:xfrm>
            <a:off x="4187267" y="307658"/>
            <a:ext cx="1146810" cy="685800"/>
          </a:xfrm>
          <a:prstGeom prst="rect">
            <a:avLst/>
          </a:prstGeom>
        </p:spPr>
      </p:pic>
      <p:sp>
        <p:nvSpPr>
          <p:cNvPr id="7" name="Line Callout 1 6">
            <a:extLst>
              <a:ext uri="{FF2B5EF4-FFF2-40B4-BE49-F238E27FC236}">
                <a16:creationId xmlns:a16="http://schemas.microsoft.com/office/drawing/2014/main" id="{B4F86319-13FF-64C2-47DD-CB4CD6254F7F}"/>
              </a:ext>
            </a:extLst>
          </p:cNvPr>
          <p:cNvSpPr/>
          <p:nvPr/>
        </p:nvSpPr>
        <p:spPr>
          <a:xfrm>
            <a:off x="6248477" y="751713"/>
            <a:ext cx="1523848" cy="342234"/>
          </a:xfrm>
          <a:prstGeom prst="borderCallout1">
            <a:avLst>
              <a:gd name="adj1" fmla="val 18750"/>
              <a:gd name="adj2" fmla="val -8333"/>
              <a:gd name="adj3" fmla="val 206455"/>
              <a:gd name="adj4" fmla="val -11020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Algorithm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Implementing BOW (step by step)</a:t>
            </a:r>
          </a:p>
        </p:txBody>
      </p:sp>
      <p:sp>
        <p:nvSpPr>
          <p:cNvPr id="5" name="Text Box 4"/>
          <p:cNvSpPr txBox="1"/>
          <p:nvPr/>
        </p:nvSpPr>
        <p:spPr>
          <a:xfrm>
            <a:off x="838200" y="1463675"/>
            <a:ext cx="10515600" cy="337185"/>
          </a:xfrm>
          <a:prstGeom prst="rect">
            <a:avLst/>
          </a:prstGeom>
        </p:spPr>
        <p:txBody>
          <a:bodyPr wrap="square">
            <a:spAutoFit/>
          </a:bodyPr>
          <a:lstStyle/>
          <a:p>
            <a:r>
              <a:rPr sz="1600">
                <a:solidFill>
                  <a:srgbClr val="000000"/>
                </a:solidFill>
                <a:latin typeface="Calibri"/>
                <a:ea typeface="Calibri"/>
              </a:rPr>
              <a:t>Here is the step-by-step approach to implementing the bag of words algorithm:</a:t>
            </a:r>
          </a:p>
        </p:txBody>
      </p:sp>
      <p:sp>
        <p:nvSpPr>
          <p:cNvPr id="6" name="Text Box 5"/>
          <p:cNvSpPr txBox="1"/>
          <p:nvPr/>
        </p:nvSpPr>
        <p:spPr>
          <a:xfrm>
            <a:off x="838200" y="1984375"/>
            <a:ext cx="5450205" cy="1322070"/>
          </a:xfrm>
          <a:prstGeom prst="rect">
            <a:avLst/>
          </a:prstGeom>
        </p:spPr>
        <p:txBody>
          <a:bodyPr wrap="square">
            <a:spAutoFit/>
          </a:bodyPr>
          <a:lstStyle/>
          <a:p>
            <a:r>
              <a:rPr sz="1600" b="1">
                <a:solidFill>
                  <a:srgbClr val="000000"/>
                </a:solidFill>
                <a:latin typeface="Calibri-Bold"/>
                <a:ea typeface="Calibri-Bold"/>
              </a:rPr>
              <a:t>Step 1: Collecting data and pre-processing it. </a:t>
            </a:r>
          </a:p>
          <a:p>
            <a:endParaRPr sz="1600">
              <a:solidFill>
                <a:srgbClr val="000000"/>
              </a:solidFill>
              <a:latin typeface="Calibri"/>
              <a:ea typeface="Calibri"/>
            </a:endParaRPr>
          </a:p>
          <a:p>
            <a:r>
              <a:rPr sz="1600">
                <a:solidFill>
                  <a:srgbClr val="000000"/>
                </a:solidFill>
                <a:latin typeface="Calibri"/>
                <a:ea typeface="Calibri"/>
              </a:rPr>
              <a:t>Document 1: Aman and Avni are stressed </a:t>
            </a:r>
          </a:p>
          <a:p>
            <a:r>
              <a:rPr sz="1600">
                <a:solidFill>
                  <a:srgbClr val="000000"/>
                </a:solidFill>
                <a:latin typeface="Calibri"/>
                <a:ea typeface="Calibri"/>
              </a:rPr>
              <a:t>Document 2: Aman went to a therapist </a:t>
            </a:r>
          </a:p>
          <a:p>
            <a:r>
              <a:rPr sz="1600">
                <a:solidFill>
                  <a:srgbClr val="000000"/>
                </a:solidFill>
                <a:latin typeface="Calibri"/>
                <a:ea typeface="Calibri"/>
              </a:rPr>
              <a:t>Document 3: Avni went to download a health chatbo</a:t>
            </a:r>
          </a:p>
        </p:txBody>
      </p:sp>
      <p:sp>
        <p:nvSpPr>
          <p:cNvPr id="7" name="Text Box 6"/>
          <p:cNvSpPr txBox="1"/>
          <p:nvPr/>
        </p:nvSpPr>
        <p:spPr>
          <a:xfrm>
            <a:off x="838200" y="3429000"/>
            <a:ext cx="10515600" cy="829945"/>
          </a:xfrm>
          <a:prstGeom prst="rect">
            <a:avLst/>
          </a:prstGeom>
        </p:spPr>
        <p:txBody>
          <a:bodyPr wrap="square">
            <a:spAutoFit/>
          </a:bodyPr>
          <a:lstStyle/>
          <a:p>
            <a:r>
              <a:rPr sz="1600" b="1">
                <a:solidFill>
                  <a:srgbClr val="000000"/>
                </a:solidFill>
                <a:latin typeface="Calibri-Bold"/>
                <a:ea typeface="Calibri-Bold"/>
              </a:rPr>
              <a:t>Step 2: Create a Dictionary </a:t>
            </a:r>
          </a:p>
          <a:p>
            <a:r>
              <a:rPr sz="1600">
                <a:solidFill>
                  <a:srgbClr val="000000"/>
                </a:solidFill>
                <a:latin typeface="Calibri"/>
                <a:ea typeface="Calibri"/>
              </a:rPr>
              <a:t>Go through all the steps and create a dictionary i.e., list down all the words which occur in all three documents: </a:t>
            </a:r>
          </a:p>
          <a:p>
            <a:r>
              <a:rPr sz="1600" b="1">
                <a:solidFill>
                  <a:srgbClr val="000000"/>
                </a:solidFill>
                <a:latin typeface="Calibri"/>
                <a:ea typeface="Calibri"/>
              </a:rPr>
              <a:t>Dictionary</a:t>
            </a:r>
            <a:r>
              <a:rPr sz="1600">
                <a:solidFill>
                  <a:srgbClr val="000000"/>
                </a:solidFill>
                <a:latin typeface="Calibri"/>
                <a:ea typeface="Calibri"/>
              </a:rPr>
              <a:t>:</a:t>
            </a:r>
          </a:p>
        </p:txBody>
      </p:sp>
      <p:pic>
        <p:nvPicPr>
          <p:cNvPr id="8" name="Picture 7" descr="Screenshot 2025-10-31 at 12.46.20 PM"/>
          <p:cNvPicPr>
            <a:picLocks noChangeAspect="1"/>
          </p:cNvPicPr>
          <p:nvPr/>
        </p:nvPicPr>
        <p:blipFill>
          <a:blip r:embed="rId2"/>
          <a:stretch>
            <a:fillRect/>
          </a:stretch>
        </p:blipFill>
        <p:spPr>
          <a:xfrm>
            <a:off x="2501900" y="4381500"/>
            <a:ext cx="7188200" cy="990600"/>
          </a:xfrm>
          <a:prstGeom prst="rect">
            <a:avLst/>
          </a:prstGeom>
        </p:spPr>
      </p:pic>
      <p:sp>
        <p:nvSpPr>
          <p:cNvPr id="10" name="Text Box 9"/>
          <p:cNvSpPr txBox="1"/>
          <p:nvPr/>
        </p:nvSpPr>
        <p:spPr>
          <a:xfrm>
            <a:off x="838200" y="5585460"/>
            <a:ext cx="10515600" cy="583565"/>
          </a:xfrm>
          <a:prstGeom prst="rect">
            <a:avLst/>
          </a:prstGeom>
        </p:spPr>
        <p:txBody>
          <a:bodyPr wrap="square">
            <a:spAutoFit/>
          </a:bodyPr>
          <a:lstStyle/>
          <a:p>
            <a:pPr algn="just"/>
            <a:r>
              <a:rPr sz="1600">
                <a:solidFill>
                  <a:srgbClr val="000000"/>
                </a:solidFill>
                <a:latin typeface="Calibri"/>
                <a:ea typeface="Calibri"/>
              </a:rPr>
              <a:t>Note that even though some words are repeated in different documents, they are all written just once as while creating the dictionary, we create the list of unique words.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669925" y="1342390"/>
            <a:ext cx="10762615" cy="1322070"/>
          </a:xfrm>
          <a:prstGeom prst="rect">
            <a:avLst/>
          </a:prstGeom>
        </p:spPr>
        <p:txBody>
          <a:bodyPr wrap="square">
            <a:spAutoFit/>
          </a:bodyPr>
          <a:lstStyle/>
          <a:p>
            <a:r>
              <a:rPr sz="1600" b="1">
                <a:solidFill>
                  <a:srgbClr val="000000"/>
                </a:solidFill>
                <a:latin typeface="Calibri-Bold"/>
                <a:ea typeface="Calibri-Bold"/>
              </a:rPr>
              <a:t>Step 3: Create a document vector </a:t>
            </a:r>
          </a:p>
          <a:p>
            <a:endParaRPr sz="1600" b="1">
              <a:solidFill>
                <a:srgbClr val="000000"/>
              </a:solidFill>
              <a:latin typeface="Calibri-Bold"/>
              <a:ea typeface="Calibri-Bold"/>
            </a:endParaRPr>
          </a:p>
          <a:p>
            <a:pPr algn="just"/>
            <a:r>
              <a:rPr sz="1600">
                <a:solidFill>
                  <a:srgbClr val="000000"/>
                </a:solidFill>
                <a:latin typeface="Calibri"/>
                <a:ea typeface="Calibri"/>
              </a:rPr>
              <a:t>In this</a:t>
            </a:r>
            <a:r>
              <a:rPr lang="en-US" sz="1600">
                <a:solidFill>
                  <a:srgbClr val="000000"/>
                </a:solidFill>
                <a:latin typeface="Calibri"/>
                <a:ea typeface="Calibri"/>
              </a:rPr>
              <a:t> </a:t>
            </a:r>
            <a:r>
              <a:rPr sz="1600">
                <a:solidFill>
                  <a:srgbClr val="000000"/>
                </a:solidFill>
                <a:latin typeface="Calibri"/>
                <a:ea typeface="Calibri"/>
              </a:rPr>
              <a:t>step, the vocabulary is written in the top row. Now, for each word in the document, fit matches the vocabulary, put a 1 under it. If the same word appears again, increment the previous value by 1. And if the word does not occur in that document, put a 0 under it.</a:t>
            </a:r>
          </a:p>
        </p:txBody>
      </p:sp>
      <p:pic>
        <p:nvPicPr>
          <p:cNvPr id="5" name="Picture 4" descr="Screenshot 2025-10-31 at 12.52.46 PM"/>
          <p:cNvPicPr>
            <a:picLocks noChangeAspect="1"/>
          </p:cNvPicPr>
          <p:nvPr/>
        </p:nvPicPr>
        <p:blipFill>
          <a:blip r:embed="rId2"/>
          <a:stretch>
            <a:fillRect/>
          </a:stretch>
        </p:blipFill>
        <p:spPr>
          <a:xfrm>
            <a:off x="1682115" y="2792095"/>
            <a:ext cx="8737600" cy="914400"/>
          </a:xfrm>
          <a:prstGeom prst="rect">
            <a:avLst/>
          </a:prstGeom>
        </p:spPr>
      </p:pic>
      <p:sp>
        <p:nvSpPr>
          <p:cNvPr id="7" name="Text Box 6"/>
          <p:cNvSpPr txBox="1"/>
          <p:nvPr/>
        </p:nvSpPr>
        <p:spPr>
          <a:xfrm>
            <a:off x="669925" y="3934460"/>
            <a:ext cx="10762615" cy="583565"/>
          </a:xfrm>
          <a:prstGeom prst="rect">
            <a:avLst/>
          </a:prstGeom>
        </p:spPr>
        <p:txBody>
          <a:bodyPr wrap="square">
            <a:spAutoFit/>
          </a:bodyPr>
          <a:lstStyle/>
          <a:p>
            <a:pPr algn="just"/>
            <a:r>
              <a:rPr sz="1600">
                <a:solidFill>
                  <a:srgbClr val="000000"/>
                </a:solidFill>
                <a:latin typeface="Calibri"/>
                <a:ea typeface="Calibri"/>
              </a:rPr>
              <a:t>Since, in the first document, we have words: aman, and, avni, are,</a:t>
            </a:r>
            <a:r>
              <a:rPr lang="en-US" sz="1600">
                <a:solidFill>
                  <a:srgbClr val="000000"/>
                </a:solidFill>
                <a:latin typeface="Calibri"/>
                <a:ea typeface="Calibri"/>
              </a:rPr>
              <a:t> </a:t>
            </a:r>
            <a:r>
              <a:rPr sz="1600">
                <a:solidFill>
                  <a:srgbClr val="000000"/>
                </a:solidFill>
                <a:latin typeface="Calibri"/>
                <a:ea typeface="Calibri"/>
              </a:rPr>
              <a:t>stressed. So, all thesewords get a value of 1 and the rest of the words get a 0 value.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912495" y="822325"/>
            <a:ext cx="10341610" cy="829945"/>
          </a:xfrm>
          <a:prstGeom prst="rect">
            <a:avLst/>
          </a:prstGeom>
        </p:spPr>
        <p:txBody>
          <a:bodyPr wrap="square">
            <a:spAutoFit/>
          </a:bodyPr>
          <a:lstStyle/>
          <a:p>
            <a:r>
              <a:rPr sz="1600" b="1">
                <a:solidFill>
                  <a:srgbClr val="000000"/>
                </a:solidFill>
                <a:latin typeface="Calibri-Bold"/>
                <a:ea typeface="Calibri-Bold"/>
              </a:rPr>
              <a:t>Step 4: Create document vectors for all the documents. </a:t>
            </a:r>
          </a:p>
          <a:p>
            <a:endParaRPr sz="1600" b="1">
              <a:solidFill>
                <a:srgbClr val="000000"/>
              </a:solidFill>
              <a:latin typeface="Calibri-Bold"/>
              <a:ea typeface="Calibri-Bold"/>
            </a:endParaRPr>
          </a:p>
          <a:p>
            <a:r>
              <a:rPr sz="1600">
                <a:solidFill>
                  <a:srgbClr val="000000"/>
                </a:solidFill>
                <a:latin typeface="Calibri"/>
                <a:ea typeface="Calibri"/>
              </a:rPr>
              <a:t>The same exercise hasto be done for all the documents. Hence, the table becomes:</a:t>
            </a:r>
          </a:p>
        </p:txBody>
      </p:sp>
      <p:pic>
        <p:nvPicPr>
          <p:cNvPr id="5" name="Picture 4" descr="Screenshot 2025-10-31 at 12.55.08 PM"/>
          <p:cNvPicPr>
            <a:picLocks noChangeAspect="1"/>
          </p:cNvPicPr>
          <p:nvPr/>
        </p:nvPicPr>
        <p:blipFill>
          <a:blip r:embed="rId2"/>
          <a:stretch>
            <a:fillRect/>
          </a:stretch>
        </p:blipFill>
        <p:spPr>
          <a:xfrm>
            <a:off x="1714500" y="1816100"/>
            <a:ext cx="8737600" cy="1612900"/>
          </a:xfrm>
          <a:prstGeom prst="rect">
            <a:avLst/>
          </a:prstGeom>
        </p:spPr>
      </p:pic>
      <p:sp>
        <p:nvSpPr>
          <p:cNvPr id="6" name="Text Box 5"/>
          <p:cNvSpPr txBox="1"/>
          <p:nvPr/>
        </p:nvSpPr>
        <p:spPr>
          <a:xfrm>
            <a:off x="912495" y="3710305"/>
            <a:ext cx="10341610" cy="1568450"/>
          </a:xfrm>
          <a:prstGeom prst="rect">
            <a:avLst/>
          </a:prstGeom>
        </p:spPr>
        <p:txBody>
          <a:bodyPr wrap="square">
            <a:spAutoFit/>
          </a:bodyPr>
          <a:lstStyle/>
          <a:p>
            <a:pPr algn="just"/>
            <a:r>
              <a:rPr sz="1600">
                <a:solidFill>
                  <a:srgbClr val="000000"/>
                </a:solidFill>
                <a:latin typeface="Calibri"/>
                <a:ea typeface="Calibri"/>
              </a:rPr>
              <a:t>In this table, the header row contains the vocabulary of the corpus and three rows correspond to three different documents. Take a look at this table and analyse the positioning of 0s and 1s in it. Finally, this gives us the </a:t>
            </a:r>
            <a:r>
              <a:rPr sz="1600" b="1">
                <a:solidFill>
                  <a:srgbClr val="000000"/>
                </a:solidFill>
                <a:latin typeface="Calibri-Bold"/>
                <a:ea typeface="Calibri-Bold"/>
              </a:rPr>
              <a:t>document vector table </a:t>
            </a:r>
            <a:r>
              <a:rPr sz="1600">
                <a:solidFill>
                  <a:srgbClr val="000000"/>
                </a:solidFill>
                <a:latin typeface="Calibri"/>
                <a:ea typeface="Calibri"/>
              </a:rPr>
              <a:t>for our corpus. </a:t>
            </a:r>
          </a:p>
          <a:p>
            <a:pPr algn="just"/>
            <a:endParaRPr sz="1600">
              <a:solidFill>
                <a:srgbClr val="000000"/>
              </a:solidFill>
              <a:latin typeface="Calibri"/>
              <a:ea typeface="Calibri"/>
            </a:endParaRPr>
          </a:p>
          <a:p>
            <a:pPr algn="just"/>
            <a:r>
              <a:rPr sz="1600">
                <a:solidFill>
                  <a:srgbClr val="000000"/>
                </a:solidFill>
                <a:latin typeface="Calibri"/>
                <a:ea typeface="Calibri"/>
              </a:rPr>
              <a:t>However, the tokens have</a:t>
            </a:r>
            <a:r>
              <a:rPr lang="en-US" sz="1600">
                <a:solidFill>
                  <a:srgbClr val="000000"/>
                </a:solidFill>
                <a:latin typeface="Calibri"/>
                <a:ea typeface="Calibri"/>
              </a:rPr>
              <a:t> </a:t>
            </a:r>
            <a:r>
              <a:rPr sz="1600">
                <a:solidFill>
                  <a:srgbClr val="000000"/>
                </a:solidFill>
                <a:latin typeface="Calibri"/>
                <a:ea typeface="Calibri"/>
              </a:rPr>
              <a:t>still not been converted to numbers. This leads us to the final step of our algorithm: TF</a:t>
            </a:r>
            <a:r>
              <a:rPr lang="en-US" sz="1600">
                <a:solidFill>
                  <a:srgbClr val="000000"/>
                </a:solidFill>
                <a:latin typeface="Calibri"/>
                <a:ea typeface="Calibri"/>
              </a:rPr>
              <a:t>-</a:t>
            </a:r>
            <a:r>
              <a:rPr sz="1600">
                <a:solidFill>
                  <a:srgbClr val="000000"/>
                </a:solidFill>
                <a:latin typeface="Calibri"/>
                <a:ea typeface="Calibri"/>
              </a:rPr>
              <a:t>IDF.</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Term Frequency - Inverse Document Frequncy (TF-IDF)</a:t>
            </a:r>
          </a:p>
        </p:txBody>
      </p:sp>
      <p:pic>
        <p:nvPicPr>
          <p:cNvPr id="3" name="Picture 2" descr="Screenshot 2025-11-04 at 9.23.47 AM"/>
          <p:cNvPicPr>
            <a:picLocks noChangeAspect="1"/>
          </p:cNvPicPr>
          <p:nvPr/>
        </p:nvPicPr>
        <p:blipFill>
          <a:blip r:embed="rId2"/>
          <a:stretch>
            <a:fillRect/>
          </a:stretch>
        </p:blipFill>
        <p:spPr>
          <a:xfrm>
            <a:off x="838200" y="2041525"/>
            <a:ext cx="5321300" cy="3860800"/>
          </a:xfrm>
          <a:prstGeom prst="rect">
            <a:avLst/>
          </a:prstGeom>
        </p:spPr>
      </p:pic>
      <p:sp>
        <p:nvSpPr>
          <p:cNvPr id="4" name="Text Box 3"/>
          <p:cNvSpPr txBox="1"/>
          <p:nvPr/>
        </p:nvSpPr>
        <p:spPr>
          <a:xfrm>
            <a:off x="6712585" y="2818765"/>
            <a:ext cx="4777740" cy="2306955"/>
          </a:xfrm>
          <a:prstGeom prst="rect">
            <a:avLst/>
          </a:prstGeom>
        </p:spPr>
        <p:txBody>
          <a:bodyPr wrap="square">
            <a:spAutoFit/>
          </a:bodyPr>
          <a:lstStyle/>
          <a:p>
            <a:pPr algn="just"/>
            <a:r>
              <a:rPr sz="1600" dirty="0">
                <a:solidFill>
                  <a:srgbClr val="000000"/>
                </a:solidFill>
                <a:latin typeface="Calibri"/>
                <a:ea typeface="Calibri"/>
              </a:rPr>
              <a:t>And, this, is, the, etc. are the words which occur the most in almost all the documents. But these words do not talk about the corpus at all. Though </a:t>
            </a:r>
            <a:r>
              <a:rPr sz="1600" i="1" u="sng" dirty="0">
                <a:solidFill>
                  <a:srgbClr val="000000"/>
                </a:solidFill>
                <a:latin typeface="Calibri"/>
                <a:ea typeface="Calibri"/>
              </a:rPr>
              <a:t>they are important for humans as they make the statements understandable to us, for the machine they are a complete waste as they do not provide us with any information regarding the corpus</a:t>
            </a:r>
            <a:r>
              <a:rPr sz="1600" dirty="0">
                <a:solidFill>
                  <a:srgbClr val="000000"/>
                </a:solidFill>
                <a:latin typeface="Calibri"/>
                <a:ea typeface="Calibri"/>
              </a:rPr>
              <a:t>. Hence, these are termed as </a:t>
            </a:r>
            <a:r>
              <a:rPr sz="1600" b="1" i="1" u="sng" dirty="0">
                <a:solidFill>
                  <a:srgbClr val="000000"/>
                </a:solidFill>
                <a:latin typeface="Calibri"/>
                <a:ea typeface="Calibri"/>
              </a:rPr>
              <a:t>stop words</a:t>
            </a:r>
            <a:r>
              <a:rPr sz="1600" dirty="0">
                <a:solidFill>
                  <a:srgbClr val="000000"/>
                </a:solidFill>
                <a:latin typeface="Calibri"/>
                <a:ea typeface="Calibri"/>
              </a:rPr>
              <a:t> and are mostly removed at the pre-processing stage only</a:t>
            </a:r>
          </a:p>
        </p:txBody>
      </p:sp>
      <p:pic>
        <p:nvPicPr>
          <p:cNvPr id="5" name="Picture 4" descr="Important PNG Transparent Images Free Download | Vector Files | Pngtree">
            <a:extLst>
              <a:ext uri="{FF2B5EF4-FFF2-40B4-BE49-F238E27FC236}">
                <a16:creationId xmlns:a16="http://schemas.microsoft.com/office/drawing/2014/main" id="{7114D512-CFB7-E49B-5604-4CE0A0511637}"/>
              </a:ext>
            </a:extLst>
          </p:cNvPr>
          <p:cNvPicPr>
            <a:picLocks noChangeAspect="1"/>
          </p:cNvPicPr>
          <p:nvPr/>
        </p:nvPicPr>
        <p:blipFill>
          <a:blip r:embed="rId3"/>
          <a:stretch>
            <a:fillRect/>
          </a:stretch>
        </p:blipFill>
        <p:spPr>
          <a:xfrm rot="20286742">
            <a:off x="8382368" y="971603"/>
            <a:ext cx="1438171" cy="143817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Term Frequency - TF</a:t>
            </a:r>
          </a:p>
        </p:txBody>
      </p:sp>
      <p:sp>
        <p:nvSpPr>
          <p:cNvPr id="4" name="Text Box 3"/>
          <p:cNvSpPr txBox="1"/>
          <p:nvPr/>
        </p:nvSpPr>
        <p:spPr>
          <a:xfrm>
            <a:off x="838200" y="1544955"/>
            <a:ext cx="10515600" cy="829945"/>
          </a:xfrm>
          <a:prstGeom prst="rect">
            <a:avLst/>
          </a:prstGeom>
        </p:spPr>
        <p:txBody>
          <a:bodyPr wrap="square">
            <a:spAutoFit/>
          </a:bodyPr>
          <a:lstStyle/>
          <a:p>
            <a:pPr algn="just"/>
            <a:r>
              <a:rPr sz="1600">
                <a:solidFill>
                  <a:srgbClr val="000000"/>
                </a:solidFill>
                <a:latin typeface="Calibri"/>
                <a:ea typeface="Calibri"/>
              </a:rPr>
              <a:t>Term frequency is the frequency of a word in one document. Term frequency can easily be found in the document vector table as in that table we mention the frequency of each word of the vocabulary in each document.</a:t>
            </a:r>
          </a:p>
        </p:txBody>
      </p:sp>
      <p:pic>
        <p:nvPicPr>
          <p:cNvPr id="5" name="Picture 4" descr="Screenshot 2025-11-04 at 9.28.54 AM"/>
          <p:cNvPicPr>
            <a:picLocks noChangeAspect="1"/>
          </p:cNvPicPr>
          <p:nvPr/>
        </p:nvPicPr>
        <p:blipFill>
          <a:blip r:embed="rId2"/>
          <a:stretch>
            <a:fillRect/>
          </a:stretch>
        </p:blipFill>
        <p:spPr>
          <a:xfrm>
            <a:off x="2076450" y="2479675"/>
            <a:ext cx="8039100" cy="1460500"/>
          </a:xfrm>
          <a:prstGeom prst="rect">
            <a:avLst/>
          </a:prstGeom>
        </p:spPr>
      </p:pic>
      <p:sp>
        <p:nvSpPr>
          <p:cNvPr id="6" name="Text Box 5"/>
          <p:cNvSpPr txBox="1"/>
          <p:nvPr/>
        </p:nvSpPr>
        <p:spPr>
          <a:xfrm>
            <a:off x="838200" y="4311650"/>
            <a:ext cx="10515600" cy="583565"/>
          </a:xfrm>
          <a:prstGeom prst="rect">
            <a:avLst/>
          </a:prstGeom>
        </p:spPr>
        <p:txBody>
          <a:bodyPr wrap="square">
            <a:spAutoFit/>
          </a:bodyPr>
          <a:lstStyle/>
          <a:p>
            <a:pPr algn="just"/>
            <a:r>
              <a:rPr sz="1600">
                <a:solidFill>
                  <a:srgbClr val="000000"/>
                </a:solidFill>
                <a:latin typeface="Calibri"/>
                <a:ea typeface="Calibri"/>
              </a:rPr>
              <a:t>Here, you can see that the frequency of each word for each document has been recorded in the table. These numbers are nothing but the </a:t>
            </a:r>
            <a:r>
              <a:rPr sz="1600" b="1" i="1" u="sng">
                <a:solidFill>
                  <a:srgbClr val="000000"/>
                </a:solidFill>
                <a:latin typeface="Calibri"/>
                <a:ea typeface="Calibri"/>
              </a:rPr>
              <a:t>Term Frequencies</a:t>
            </a:r>
            <a:r>
              <a:rPr sz="1600">
                <a:solidFill>
                  <a:srgbClr val="000000"/>
                </a:solidFill>
                <a:latin typeface="Calibri"/>
                <a:ea typeface="Calibri"/>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Inverse Document Frequency - IDF</a:t>
            </a:r>
          </a:p>
        </p:txBody>
      </p:sp>
      <p:sp>
        <p:nvSpPr>
          <p:cNvPr id="4" name="Text Box 3"/>
          <p:cNvSpPr txBox="1"/>
          <p:nvPr/>
        </p:nvSpPr>
        <p:spPr>
          <a:xfrm>
            <a:off x="838200" y="1497965"/>
            <a:ext cx="10515600" cy="645160"/>
          </a:xfrm>
          <a:prstGeom prst="rect">
            <a:avLst/>
          </a:prstGeom>
        </p:spPr>
        <p:txBody>
          <a:bodyPr wrap="square">
            <a:spAutoFit/>
          </a:bodyPr>
          <a:lstStyle/>
          <a:p>
            <a:pPr algn="just"/>
            <a:r>
              <a:rPr>
                <a:solidFill>
                  <a:srgbClr val="000000"/>
                </a:solidFill>
                <a:latin typeface="Calibri"/>
                <a:ea typeface="Calibri"/>
              </a:rPr>
              <a:t>Document Frequency is the number of documents in which the word occurs irrespective of how many times it has occurred in those documents.</a:t>
            </a:r>
          </a:p>
        </p:txBody>
      </p:sp>
      <p:pic>
        <p:nvPicPr>
          <p:cNvPr id="5" name="Picture 4" descr="Screenshot 2025-11-04 at 9.58.57 AM"/>
          <p:cNvPicPr>
            <a:picLocks noChangeAspect="1"/>
          </p:cNvPicPr>
          <p:nvPr/>
        </p:nvPicPr>
        <p:blipFill>
          <a:blip r:embed="rId2"/>
          <a:stretch>
            <a:fillRect/>
          </a:stretch>
        </p:blipFill>
        <p:spPr>
          <a:xfrm>
            <a:off x="2254250" y="2254250"/>
            <a:ext cx="7683500" cy="800100"/>
          </a:xfrm>
          <a:prstGeom prst="rect">
            <a:avLst/>
          </a:prstGeom>
        </p:spPr>
      </p:pic>
      <p:sp>
        <p:nvSpPr>
          <p:cNvPr id="6" name="Text Box 5"/>
          <p:cNvSpPr txBox="1"/>
          <p:nvPr/>
        </p:nvSpPr>
        <p:spPr>
          <a:xfrm>
            <a:off x="838200" y="3165475"/>
            <a:ext cx="10515600" cy="2030095"/>
          </a:xfrm>
          <a:prstGeom prst="rect">
            <a:avLst/>
          </a:prstGeom>
        </p:spPr>
        <p:txBody>
          <a:bodyPr wrap="square">
            <a:spAutoFit/>
          </a:bodyPr>
          <a:lstStyle/>
          <a:p>
            <a:pPr algn="just"/>
            <a:r>
              <a:rPr>
                <a:solidFill>
                  <a:srgbClr val="000000"/>
                </a:solidFill>
                <a:latin typeface="Calibri"/>
                <a:ea typeface="Calibri"/>
              </a:rPr>
              <a:t>Here, you can see that the documentfrequency of ‘aman’, ‘avni’, ‘went’, ‘to’ and ‘a’ is 2 as</a:t>
            </a:r>
            <a:r>
              <a:rPr lang="en-US">
                <a:solidFill>
                  <a:srgbClr val="000000"/>
                </a:solidFill>
                <a:latin typeface="Calibri"/>
                <a:ea typeface="Calibri"/>
              </a:rPr>
              <a:t> </a:t>
            </a:r>
            <a:r>
              <a:rPr>
                <a:solidFill>
                  <a:srgbClr val="000000"/>
                </a:solidFill>
                <a:latin typeface="Calibri"/>
                <a:ea typeface="Calibri"/>
              </a:rPr>
              <a:t>they have occurred in </a:t>
            </a:r>
            <a:r>
              <a:rPr lang="en-US">
                <a:solidFill>
                  <a:srgbClr val="000000"/>
                </a:solidFill>
                <a:latin typeface="Calibri"/>
                <a:ea typeface="Calibri"/>
              </a:rPr>
              <a:t>2 </a:t>
            </a:r>
            <a:r>
              <a:rPr>
                <a:solidFill>
                  <a:srgbClr val="000000"/>
                </a:solidFill>
                <a:latin typeface="Calibri"/>
                <a:ea typeface="Calibri"/>
              </a:rPr>
              <a:t>documents. The rest of them occurred in just one document hence the document frequency for them is </a:t>
            </a:r>
            <a:r>
              <a:rPr lang="en-US">
                <a:solidFill>
                  <a:srgbClr val="000000"/>
                </a:solidFill>
                <a:latin typeface="Calibri"/>
                <a:ea typeface="Calibri"/>
              </a:rPr>
              <a:t>1</a:t>
            </a:r>
            <a:r>
              <a:rPr>
                <a:solidFill>
                  <a:srgbClr val="000000"/>
                </a:solidFill>
                <a:latin typeface="Calibri"/>
                <a:ea typeface="Calibri"/>
              </a:rPr>
              <a:t>. </a:t>
            </a:r>
          </a:p>
          <a:p>
            <a:pPr algn="just"/>
            <a:endParaRPr>
              <a:solidFill>
                <a:srgbClr val="000000"/>
              </a:solidFill>
              <a:latin typeface="Calibri"/>
              <a:ea typeface="Calibri"/>
            </a:endParaRPr>
          </a:p>
          <a:p>
            <a:pPr algn="just"/>
            <a:r>
              <a:rPr>
                <a:solidFill>
                  <a:srgbClr val="000000"/>
                </a:solidFill>
                <a:latin typeface="Calibri"/>
                <a:ea typeface="Calibri"/>
              </a:rPr>
              <a:t>Talking about inverse document frequency, we need to put the </a:t>
            </a:r>
            <a:r>
              <a:rPr b="1" i="1">
                <a:solidFill>
                  <a:srgbClr val="000000"/>
                </a:solidFill>
                <a:latin typeface="Calibri"/>
                <a:ea typeface="Calibri"/>
              </a:rPr>
              <a:t>document frequency in the</a:t>
            </a:r>
            <a:r>
              <a:rPr lang="en-US" b="1" i="1">
                <a:solidFill>
                  <a:srgbClr val="000000"/>
                </a:solidFill>
                <a:latin typeface="Calibri"/>
                <a:ea typeface="Calibri"/>
              </a:rPr>
              <a:t> </a:t>
            </a:r>
            <a:r>
              <a:rPr b="1" i="1">
                <a:solidFill>
                  <a:srgbClr val="000000"/>
                </a:solidFill>
                <a:latin typeface="Calibri"/>
                <a:ea typeface="Calibri"/>
              </a:rPr>
              <a:t>denominator</a:t>
            </a:r>
            <a:r>
              <a:rPr>
                <a:solidFill>
                  <a:srgbClr val="000000"/>
                </a:solidFill>
                <a:latin typeface="Calibri"/>
                <a:ea typeface="Calibri"/>
              </a:rPr>
              <a:t> while the </a:t>
            </a:r>
            <a:r>
              <a:rPr b="1" i="1">
                <a:solidFill>
                  <a:srgbClr val="000000"/>
                </a:solidFill>
                <a:latin typeface="Calibri"/>
                <a:ea typeface="Calibri"/>
              </a:rPr>
              <a:t>total number of documents is the numerator</a:t>
            </a:r>
            <a:r>
              <a:rPr>
                <a:solidFill>
                  <a:srgbClr val="000000"/>
                </a:solidFill>
                <a:latin typeface="Calibri"/>
                <a:ea typeface="Calibri"/>
              </a:rPr>
              <a:t>. Here, the total number of documents is 3, hence inverse document frequency becomes:</a:t>
            </a:r>
          </a:p>
        </p:txBody>
      </p:sp>
      <p:pic>
        <p:nvPicPr>
          <p:cNvPr id="7" name="Picture 6" descr="Screenshot 2025-11-04 at 10.02.04 AM"/>
          <p:cNvPicPr>
            <a:picLocks noChangeAspect="1"/>
          </p:cNvPicPr>
          <p:nvPr/>
        </p:nvPicPr>
        <p:blipFill>
          <a:blip r:embed="rId3"/>
          <a:stretch>
            <a:fillRect/>
          </a:stretch>
        </p:blipFill>
        <p:spPr>
          <a:xfrm>
            <a:off x="2216150" y="5306695"/>
            <a:ext cx="7721600" cy="8001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Formula</a:t>
            </a:r>
          </a:p>
        </p:txBody>
      </p:sp>
      <p:sp>
        <p:nvSpPr>
          <p:cNvPr id="5" name="Text Box 4"/>
          <p:cNvSpPr txBox="1"/>
          <p:nvPr/>
        </p:nvSpPr>
        <p:spPr>
          <a:xfrm>
            <a:off x="3134995" y="1216025"/>
            <a:ext cx="5922010" cy="583565"/>
          </a:xfrm>
          <a:prstGeom prst="rect">
            <a:avLst/>
          </a:prstGeom>
        </p:spPr>
        <p:txBody>
          <a:bodyPr wrap="square">
            <a:spAutoFit/>
          </a:bodyPr>
          <a:lstStyle/>
          <a:p>
            <a:r>
              <a:rPr sz="3200">
                <a:solidFill>
                  <a:srgbClr val="000000"/>
                </a:solidFill>
                <a:latin typeface="Calibri"/>
                <a:ea typeface="Calibri"/>
              </a:rPr>
              <a:t>TFIDF(W) = TF(W) * log( IDF(W))</a:t>
            </a:r>
          </a:p>
        </p:txBody>
      </p:sp>
      <p:sp>
        <p:nvSpPr>
          <p:cNvPr id="6" name="Text Box 5"/>
          <p:cNvSpPr txBox="1"/>
          <p:nvPr/>
        </p:nvSpPr>
        <p:spPr>
          <a:xfrm>
            <a:off x="838200" y="1971040"/>
            <a:ext cx="10515600" cy="583565"/>
          </a:xfrm>
          <a:prstGeom prst="rect">
            <a:avLst/>
          </a:prstGeom>
        </p:spPr>
        <p:txBody>
          <a:bodyPr wrap="square">
            <a:spAutoFit/>
          </a:bodyPr>
          <a:lstStyle/>
          <a:p>
            <a:r>
              <a:rPr sz="1600">
                <a:solidFill>
                  <a:srgbClr val="000000"/>
                </a:solidFill>
                <a:latin typeface="Calibri"/>
                <a:ea typeface="Calibri"/>
              </a:rPr>
              <a:t>Note that the </a:t>
            </a:r>
            <a:r>
              <a:rPr sz="1600" u="sng">
                <a:solidFill>
                  <a:srgbClr val="000000"/>
                </a:solidFill>
                <a:latin typeface="Calibri"/>
                <a:ea typeface="Calibri"/>
              </a:rPr>
              <a:t>TF values are for each document</a:t>
            </a:r>
            <a:r>
              <a:rPr sz="1600">
                <a:solidFill>
                  <a:srgbClr val="000000"/>
                </a:solidFill>
                <a:latin typeface="Calibri"/>
                <a:ea typeface="Calibri"/>
              </a:rPr>
              <a:t> while the </a:t>
            </a:r>
            <a:r>
              <a:rPr sz="1600" u="sng">
                <a:solidFill>
                  <a:srgbClr val="000000"/>
                </a:solidFill>
                <a:latin typeface="Calibri"/>
                <a:ea typeface="Calibri"/>
              </a:rPr>
              <a:t>IDF values are for the whole corpus</a:t>
            </a:r>
            <a:r>
              <a:rPr sz="1600">
                <a:solidFill>
                  <a:srgbClr val="000000"/>
                </a:solidFill>
                <a:latin typeface="Calibri"/>
                <a:ea typeface="Calibri"/>
              </a:rPr>
              <a:t>. Hence, we need to multiply the IDF values to each row of the document vector table.</a:t>
            </a:r>
          </a:p>
        </p:txBody>
      </p:sp>
      <p:pic>
        <p:nvPicPr>
          <p:cNvPr id="7" name="Picture 6" descr="Screenshot 2025-11-04 at 10.08.46 AM"/>
          <p:cNvPicPr>
            <a:picLocks noChangeAspect="1"/>
          </p:cNvPicPr>
          <p:nvPr/>
        </p:nvPicPr>
        <p:blipFill>
          <a:blip r:embed="rId2"/>
          <a:stretch>
            <a:fillRect/>
          </a:stretch>
        </p:blipFill>
        <p:spPr>
          <a:xfrm>
            <a:off x="1943100" y="2726055"/>
            <a:ext cx="8305800" cy="1930400"/>
          </a:xfrm>
          <a:prstGeom prst="rect">
            <a:avLst/>
          </a:prstGeom>
        </p:spPr>
      </p:pic>
      <p:pic>
        <p:nvPicPr>
          <p:cNvPr id="8" name="Picture 7" descr="Screenshot 2025-11-04 at 10.10.06 AM"/>
          <p:cNvPicPr>
            <a:picLocks noChangeAspect="1"/>
          </p:cNvPicPr>
          <p:nvPr/>
        </p:nvPicPr>
        <p:blipFill>
          <a:blip r:embed="rId3"/>
          <a:stretch>
            <a:fillRect/>
          </a:stretch>
        </p:blipFill>
        <p:spPr>
          <a:xfrm>
            <a:off x="1943100" y="4827905"/>
            <a:ext cx="8305165" cy="1600200"/>
          </a:xfrm>
          <a:prstGeom prst="rect">
            <a:avLst/>
          </a:prstGeom>
        </p:spPr>
      </p:pic>
      <p:pic>
        <p:nvPicPr>
          <p:cNvPr id="3" name="Picture 2" descr="Important PNG Transparent Images Free Download | Vector Files | Pngtree">
            <a:extLst>
              <a:ext uri="{FF2B5EF4-FFF2-40B4-BE49-F238E27FC236}">
                <a16:creationId xmlns:a16="http://schemas.microsoft.com/office/drawing/2014/main" id="{96AA8CEB-9683-335A-E259-B73580828809}"/>
              </a:ext>
            </a:extLst>
          </p:cNvPr>
          <p:cNvPicPr>
            <a:picLocks noChangeAspect="1"/>
          </p:cNvPicPr>
          <p:nvPr/>
        </p:nvPicPr>
        <p:blipFill>
          <a:blip r:embed="rId4"/>
          <a:stretch>
            <a:fillRect/>
          </a:stretch>
        </p:blipFill>
        <p:spPr>
          <a:xfrm rot="20286742">
            <a:off x="8593862" y="308820"/>
            <a:ext cx="1438171" cy="143817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Calculation - Explained</a:t>
            </a:r>
          </a:p>
        </p:txBody>
      </p:sp>
      <p:sp>
        <p:nvSpPr>
          <p:cNvPr id="5" name="Text Box 4"/>
          <p:cNvSpPr txBox="1"/>
          <p:nvPr/>
        </p:nvSpPr>
        <p:spPr>
          <a:xfrm>
            <a:off x="838200" y="1791335"/>
            <a:ext cx="10515600" cy="3969385"/>
          </a:xfrm>
          <a:prstGeom prst="rect">
            <a:avLst/>
          </a:prstGeom>
        </p:spPr>
        <p:txBody>
          <a:bodyPr wrap="square">
            <a:spAutoFit/>
          </a:bodyPr>
          <a:lstStyle/>
          <a:p>
            <a:pPr algn="just"/>
            <a:r>
              <a:rPr>
                <a:solidFill>
                  <a:srgbClr val="000000"/>
                </a:solidFill>
                <a:latin typeface="Calibri"/>
                <a:ea typeface="Calibri"/>
              </a:rPr>
              <a:t>These numbers are the values of each for each document. Here, you can see that since we have less amount of data, words like ‘are’ and ‘and’ also have a high value. But as the IDF value increases, the value of that word decreases. </a:t>
            </a:r>
          </a:p>
          <a:p>
            <a:pPr algn="just"/>
            <a:endParaRPr>
              <a:solidFill>
                <a:srgbClr val="000000"/>
              </a:solidFill>
              <a:latin typeface="Calibri"/>
              <a:ea typeface="Calibri"/>
            </a:endParaRPr>
          </a:p>
          <a:p>
            <a:pPr algn="just"/>
            <a:r>
              <a:rPr b="1" u="sng">
                <a:solidFill>
                  <a:srgbClr val="000000"/>
                </a:solidFill>
                <a:latin typeface="Calibri"/>
                <a:ea typeface="Calibri"/>
              </a:rPr>
              <a:t>That is, for example</a:t>
            </a:r>
            <a:r>
              <a:rPr>
                <a:solidFill>
                  <a:srgbClr val="000000"/>
                </a:solidFill>
                <a:latin typeface="Calibri"/>
                <a:ea typeface="Calibri"/>
              </a:rPr>
              <a:t>: </a:t>
            </a:r>
          </a:p>
          <a:p>
            <a:r>
              <a:rPr>
                <a:solidFill>
                  <a:srgbClr val="000000"/>
                </a:solidFill>
                <a:latin typeface="Calibri"/>
                <a:ea typeface="Calibri"/>
              </a:rPr>
              <a:t>Total Number of documents: 10 </a:t>
            </a:r>
          </a:p>
          <a:p>
            <a:r>
              <a:rPr>
                <a:solidFill>
                  <a:srgbClr val="000000"/>
                </a:solidFill>
                <a:latin typeface="Calibri"/>
                <a:ea typeface="Calibri"/>
              </a:rPr>
              <a:t>Number of documents in which ‘</a:t>
            </a:r>
            <a:r>
              <a:rPr b="1">
                <a:solidFill>
                  <a:srgbClr val="000000"/>
                </a:solidFill>
                <a:latin typeface="Calibri"/>
                <a:ea typeface="Calibri"/>
              </a:rPr>
              <a:t>and’ </a:t>
            </a:r>
            <a:r>
              <a:rPr>
                <a:solidFill>
                  <a:srgbClr val="000000"/>
                </a:solidFill>
                <a:latin typeface="Calibri"/>
                <a:ea typeface="Calibri"/>
              </a:rPr>
              <a:t>occurs: 10 </a:t>
            </a:r>
          </a:p>
          <a:p>
            <a:r>
              <a:rPr>
                <a:solidFill>
                  <a:srgbClr val="000000"/>
                </a:solidFill>
                <a:latin typeface="Calibri"/>
                <a:ea typeface="Calibri"/>
              </a:rPr>
              <a:t>Therefore, IDF(and) = 10/10 = 1 </a:t>
            </a:r>
          </a:p>
          <a:p>
            <a:r>
              <a:rPr>
                <a:solidFill>
                  <a:srgbClr val="000000"/>
                </a:solidFill>
                <a:latin typeface="Calibri"/>
                <a:ea typeface="Calibri"/>
              </a:rPr>
              <a:t>Which means: log(1) = 0. Hence, the value of ‘</a:t>
            </a:r>
            <a:r>
              <a:rPr b="1">
                <a:solidFill>
                  <a:srgbClr val="000000"/>
                </a:solidFill>
                <a:latin typeface="Calibri"/>
                <a:ea typeface="Calibri"/>
              </a:rPr>
              <a:t>and’ </a:t>
            </a:r>
            <a:r>
              <a:rPr>
                <a:solidFill>
                  <a:srgbClr val="000000"/>
                </a:solidFill>
                <a:latin typeface="Calibri"/>
                <a:ea typeface="Calibri"/>
              </a:rPr>
              <a:t>becomes 0. </a:t>
            </a:r>
          </a:p>
          <a:p>
            <a:endParaRPr>
              <a:solidFill>
                <a:srgbClr val="000000"/>
              </a:solidFill>
              <a:latin typeface="Calibri"/>
              <a:ea typeface="Calibri"/>
            </a:endParaRPr>
          </a:p>
          <a:p>
            <a:r>
              <a:rPr>
                <a:solidFill>
                  <a:srgbClr val="000000"/>
                </a:solidFill>
                <a:latin typeface="Calibri"/>
                <a:ea typeface="Calibri"/>
              </a:rPr>
              <a:t>On the other hand, the number of documents in which ‘</a:t>
            </a:r>
            <a:r>
              <a:rPr b="1">
                <a:solidFill>
                  <a:srgbClr val="000000"/>
                </a:solidFill>
                <a:latin typeface="Calibri"/>
                <a:ea typeface="Calibri"/>
              </a:rPr>
              <a:t>pollution</a:t>
            </a:r>
            <a:r>
              <a:rPr>
                <a:solidFill>
                  <a:srgbClr val="000000"/>
                </a:solidFill>
                <a:latin typeface="Calibri"/>
                <a:ea typeface="Calibri"/>
              </a:rPr>
              <a:t>’ occurs: 3 </a:t>
            </a:r>
          </a:p>
          <a:p>
            <a:r>
              <a:rPr>
                <a:solidFill>
                  <a:srgbClr val="000000"/>
                </a:solidFill>
                <a:latin typeface="Calibri"/>
                <a:ea typeface="Calibri"/>
              </a:rPr>
              <a:t>IDF(pollution) = 10/3 = 3.3333… </a:t>
            </a:r>
          </a:p>
          <a:p>
            <a:r>
              <a:rPr>
                <a:solidFill>
                  <a:srgbClr val="000000"/>
                </a:solidFill>
                <a:latin typeface="Calibri"/>
                <a:ea typeface="Calibri"/>
              </a:rPr>
              <a:t>This means</a:t>
            </a:r>
            <a:r>
              <a:rPr lang="en-US">
                <a:solidFill>
                  <a:srgbClr val="000000"/>
                </a:solidFill>
                <a:latin typeface="Calibri"/>
                <a:ea typeface="Calibri"/>
              </a:rPr>
              <a:t> </a:t>
            </a:r>
            <a:r>
              <a:rPr>
                <a:solidFill>
                  <a:srgbClr val="000000"/>
                </a:solidFill>
                <a:latin typeface="Calibri"/>
                <a:ea typeface="Calibri"/>
              </a:rPr>
              <a:t>log(3.3333) = 0.522; </a:t>
            </a:r>
          </a:p>
          <a:p>
            <a:r>
              <a:rPr>
                <a:solidFill>
                  <a:srgbClr val="000000"/>
                </a:solidFill>
                <a:latin typeface="Calibri"/>
                <a:ea typeface="Calibri"/>
              </a:rPr>
              <a:t>which shows</a:t>
            </a:r>
            <a:r>
              <a:rPr lang="en-US">
                <a:solidFill>
                  <a:srgbClr val="000000"/>
                </a:solidFill>
                <a:latin typeface="Calibri"/>
                <a:ea typeface="Calibri"/>
              </a:rPr>
              <a:t> </a:t>
            </a:r>
            <a:r>
              <a:rPr>
                <a:solidFill>
                  <a:srgbClr val="000000"/>
                </a:solidFill>
                <a:latin typeface="Calibri"/>
                <a:ea typeface="Calibri"/>
              </a:rPr>
              <a:t>that</a:t>
            </a:r>
            <a:r>
              <a:rPr lang="en-US">
                <a:solidFill>
                  <a:srgbClr val="000000"/>
                </a:solidFill>
                <a:latin typeface="Calibri"/>
                <a:ea typeface="Calibri"/>
              </a:rPr>
              <a:t> </a:t>
            </a:r>
            <a:r>
              <a:rPr>
                <a:solidFill>
                  <a:srgbClr val="000000"/>
                </a:solidFill>
                <a:latin typeface="Calibri"/>
                <a:ea typeface="Calibri"/>
              </a:rPr>
              <a:t>the word ‘</a:t>
            </a:r>
            <a:r>
              <a:rPr b="1">
                <a:solidFill>
                  <a:srgbClr val="000000"/>
                </a:solidFill>
                <a:latin typeface="Calibri"/>
                <a:ea typeface="Calibri"/>
              </a:rPr>
              <a:t>pollution</a:t>
            </a:r>
            <a:r>
              <a:rPr>
                <a:solidFill>
                  <a:srgbClr val="000000"/>
                </a:solidFill>
                <a:latin typeface="Calibri"/>
                <a:ea typeface="Calibri"/>
              </a:rPr>
              <a:t>’ has considerable</a:t>
            </a:r>
            <a:r>
              <a:rPr lang="en-US">
                <a:solidFill>
                  <a:srgbClr val="000000"/>
                </a:solidFill>
                <a:latin typeface="Calibri"/>
                <a:ea typeface="Calibri"/>
              </a:rPr>
              <a:t> </a:t>
            </a:r>
            <a:r>
              <a:rPr>
                <a:solidFill>
                  <a:srgbClr val="000000"/>
                </a:solidFill>
                <a:latin typeface="Calibri"/>
                <a:ea typeface="Calibri"/>
              </a:rPr>
              <a:t>value in the corpus.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Summary</a:t>
            </a:r>
          </a:p>
        </p:txBody>
      </p:sp>
      <p:sp>
        <p:nvSpPr>
          <p:cNvPr id="4" name="Text Box 3"/>
          <p:cNvSpPr txBox="1"/>
          <p:nvPr/>
        </p:nvSpPr>
        <p:spPr>
          <a:xfrm>
            <a:off x="838200" y="2002155"/>
            <a:ext cx="10515600" cy="3138170"/>
          </a:xfrm>
          <a:prstGeom prst="rect">
            <a:avLst/>
          </a:prstGeom>
        </p:spPr>
        <p:txBody>
          <a:bodyPr wrap="square">
            <a:spAutoFit/>
          </a:bodyPr>
          <a:lstStyle/>
          <a:p>
            <a:r>
              <a:rPr>
                <a:solidFill>
                  <a:srgbClr val="000000"/>
                </a:solidFill>
                <a:latin typeface="Calibri"/>
                <a:ea typeface="Calibri"/>
              </a:rPr>
              <a:t>Summarising the concept, we can say that: </a:t>
            </a:r>
          </a:p>
          <a:p>
            <a:endParaRPr>
              <a:solidFill>
                <a:srgbClr val="000000"/>
              </a:solidFill>
              <a:latin typeface="Calibri"/>
              <a:ea typeface="Calibri"/>
            </a:endParaRPr>
          </a:p>
          <a:p>
            <a:pPr algn="just"/>
            <a:r>
              <a:rPr>
                <a:solidFill>
                  <a:srgbClr val="000000"/>
                </a:solidFill>
                <a:latin typeface="Calibri"/>
                <a:ea typeface="Calibri"/>
              </a:rPr>
              <a:t>1. Words that occur in all the documents with high term frequencies have the lowest values and are considered to be the stop words. </a:t>
            </a:r>
          </a:p>
          <a:p>
            <a:pPr algn="just"/>
            <a:endParaRPr>
              <a:solidFill>
                <a:srgbClr val="000000"/>
              </a:solidFill>
              <a:latin typeface="Calibri"/>
              <a:ea typeface="Calibri"/>
            </a:endParaRPr>
          </a:p>
          <a:p>
            <a:pPr algn="just"/>
            <a:r>
              <a:rPr>
                <a:solidFill>
                  <a:srgbClr val="000000"/>
                </a:solidFill>
                <a:latin typeface="Calibri"/>
                <a:ea typeface="Calibri"/>
              </a:rPr>
              <a:t>2. For a word to have a high TFIDF value, the word needs to have a high term frequency but less document frequency which shows that the word is important for one document but is not a common word for all documents. </a:t>
            </a:r>
          </a:p>
          <a:p>
            <a:pPr algn="just"/>
            <a:endParaRPr>
              <a:solidFill>
                <a:srgbClr val="000000"/>
              </a:solidFill>
              <a:latin typeface="Calibri"/>
              <a:ea typeface="Calibri"/>
            </a:endParaRPr>
          </a:p>
          <a:p>
            <a:pPr algn="just"/>
            <a:r>
              <a:rPr>
                <a:solidFill>
                  <a:srgbClr val="000000"/>
                </a:solidFill>
                <a:latin typeface="Calibri"/>
                <a:ea typeface="Calibri"/>
              </a:rPr>
              <a:t>3. These values help the computer understand which words are to be considered while processing the natural language. The higher the value, the more important the word is for a given corpus.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Applications of TF-IDF</a:t>
            </a:r>
          </a:p>
        </p:txBody>
      </p:sp>
      <p:sp>
        <p:nvSpPr>
          <p:cNvPr id="5" name="Text Box 4"/>
          <p:cNvSpPr txBox="1"/>
          <p:nvPr/>
        </p:nvSpPr>
        <p:spPr>
          <a:xfrm>
            <a:off x="838200" y="1691005"/>
            <a:ext cx="9723120" cy="337185"/>
          </a:xfrm>
          <a:prstGeom prst="rect">
            <a:avLst/>
          </a:prstGeom>
        </p:spPr>
        <p:txBody>
          <a:bodyPr wrap="square">
            <a:spAutoFit/>
          </a:bodyPr>
          <a:lstStyle/>
          <a:p>
            <a:r>
              <a:rPr sz="1600">
                <a:solidFill>
                  <a:srgbClr val="000000"/>
                </a:solidFill>
                <a:latin typeface="Calibri"/>
                <a:ea typeface="Calibri"/>
              </a:rPr>
              <a:t>TFIDF is commonly used in the Natural Language Processing domain. Some of itsapplications are:</a:t>
            </a:r>
          </a:p>
        </p:txBody>
      </p:sp>
      <p:pic>
        <p:nvPicPr>
          <p:cNvPr id="6" name="Picture 5" descr="Screenshot 2025-11-04 at 10.21.57 AM"/>
          <p:cNvPicPr>
            <a:picLocks noChangeAspect="1"/>
          </p:cNvPicPr>
          <p:nvPr/>
        </p:nvPicPr>
        <p:blipFill>
          <a:blip r:embed="rId2"/>
          <a:stretch>
            <a:fillRect/>
          </a:stretch>
        </p:blipFill>
        <p:spPr>
          <a:xfrm>
            <a:off x="2070100" y="2608580"/>
            <a:ext cx="8051800" cy="1968500"/>
          </a:xfrm>
          <a:prstGeom prst="rect">
            <a:avLst/>
          </a:prstGeom>
        </p:spPr>
      </p:pic>
      <p:pic>
        <p:nvPicPr>
          <p:cNvPr id="3" name="Picture 2" descr="Important PNG Transparent Images Free Download | Vector Files | Pngtree">
            <a:extLst>
              <a:ext uri="{FF2B5EF4-FFF2-40B4-BE49-F238E27FC236}">
                <a16:creationId xmlns:a16="http://schemas.microsoft.com/office/drawing/2014/main" id="{F8F21AF2-E49A-A914-F366-1147EC2753D9}"/>
              </a:ext>
            </a:extLst>
          </p:cNvPr>
          <p:cNvPicPr>
            <a:picLocks noChangeAspect="1"/>
          </p:cNvPicPr>
          <p:nvPr/>
        </p:nvPicPr>
        <p:blipFill>
          <a:blip r:embed="rId3"/>
          <a:stretch>
            <a:fillRect/>
          </a:stretch>
        </p:blipFill>
        <p:spPr>
          <a:xfrm rot="20286742">
            <a:off x="5915992" y="117492"/>
            <a:ext cx="1438171" cy="1438171"/>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NLP - Case Walkthrough</a:t>
            </a:r>
          </a:p>
        </p:txBody>
      </p:sp>
      <p:pic>
        <p:nvPicPr>
          <p:cNvPr id="4" name="Picture 3" descr="Screenshot 2025-11-04 at 10.23.41 AM"/>
          <p:cNvPicPr>
            <a:picLocks noChangeAspect="1"/>
          </p:cNvPicPr>
          <p:nvPr/>
        </p:nvPicPr>
        <p:blipFill>
          <a:blip r:embed="rId2"/>
          <a:srcRect b="34766"/>
          <a:stretch>
            <a:fillRect/>
          </a:stretch>
        </p:blipFill>
        <p:spPr>
          <a:xfrm>
            <a:off x="2108200" y="1454150"/>
            <a:ext cx="7975600" cy="1060450"/>
          </a:xfrm>
          <a:prstGeom prst="rect">
            <a:avLst/>
          </a:prstGeom>
        </p:spPr>
      </p:pic>
      <p:pic>
        <p:nvPicPr>
          <p:cNvPr id="5" name="Picture 4" descr="Screenshot 2025-11-04 at 10.24.35 AM"/>
          <p:cNvPicPr>
            <a:picLocks noChangeAspect="1"/>
          </p:cNvPicPr>
          <p:nvPr/>
        </p:nvPicPr>
        <p:blipFill>
          <a:blip r:embed="rId3"/>
          <a:stretch>
            <a:fillRect/>
          </a:stretch>
        </p:blipFill>
        <p:spPr>
          <a:xfrm>
            <a:off x="2108200" y="3065145"/>
            <a:ext cx="7975600" cy="3594100"/>
          </a:xfrm>
          <a:prstGeom prst="rect">
            <a:avLst/>
          </a:prstGeom>
        </p:spPr>
      </p:pic>
      <p:sp>
        <p:nvSpPr>
          <p:cNvPr id="6" name="Text Box 5"/>
          <p:cNvSpPr txBox="1"/>
          <p:nvPr/>
        </p:nvSpPr>
        <p:spPr>
          <a:xfrm>
            <a:off x="922020" y="2605405"/>
            <a:ext cx="5304155" cy="337185"/>
          </a:xfrm>
          <a:prstGeom prst="rect">
            <a:avLst/>
          </a:prstGeom>
          <a:noFill/>
        </p:spPr>
        <p:txBody>
          <a:bodyPr wrap="square" rtlCol="0">
            <a:spAutoFit/>
          </a:bodyPr>
          <a:lstStyle/>
          <a:p>
            <a:r>
              <a:rPr lang="en-US" altLang="en-US" sz="1600" b="1"/>
              <a:t>Examples of Code and No-code NLP Tools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2667000" y="0"/>
            <a:ext cx="6858000" cy="6858000"/>
          </a:xfrm>
          <a:prstGeom prst="ellipse">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TotalTime>
  <Words>2131</Words>
  <Application>Microsoft Macintosh PowerPoint</Application>
  <PresentationFormat>Widescreen</PresentationFormat>
  <Paragraphs>122</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Calibri-Bold</vt:lpstr>
      <vt:lpstr>Office Theme</vt:lpstr>
      <vt:lpstr>PowerPoint Presentation</vt:lpstr>
      <vt:lpstr>PowerPoint Presentation</vt:lpstr>
      <vt:lpstr>Why NLP is Important?</vt:lpstr>
      <vt:lpstr>Applicatios of NLP</vt:lpstr>
      <vt:lpstr>Keyword Extraction</vt:lpstr>
      <vt:lpstr>Stages of NLP</vt:lpstr>
      <vt:lpstr>Lexical Analysis</vt:lpstr>
      <vt:lpstr>Syntactic Analysis / Parsing</vt:lpstr>
      <vt:lpstr>Sementic Analysis</vt:lpstr>
      <vt:lpstr>Discourse integration</vt:lpstr>
      <vt:lpstr>Pragmatic Analysis</vt:lpstr>
      <vt:lpstr>PowerPoint Presentation</vt:lpstr>
      <vt:lpstr>Chatbots</vt:lpstr>
      <vt:lpstr>PowerPoint Presentation</vt:lpstr>
      <vt:lpstr>Text Processing</vt:lpstr>
      <vt:lpstr>STEPS OF THE NORMALISATION</vt:lpstr>
      <vt:lpstr>Sentence Segmentation</vt:lpstr>
      <vt:lpstr>Tokenization</vt:lpstr>
      <vt:lpstr>Removing Stop words, Special Characters and Numbers </vt:lpstr>
      <vt:lpstr>Converting text to a Common Case</vt:lpstr>
      <vt:lpstr>Stemming</vt:lpstr>
      <vt:lpstr>Lemmatization</vt:lpstr>
      <vt:lpstr>Bag of Words</vt:lpstr>
      <vt:lpstr>Implementing BOW (step by step)</vt:lpstr>
      <vt:lpstr>PowerPoint Presentation</vt:lpstr>
      <vt:lpstr>PowerPoint Presentation</vt:lpstr>
      <vt:lpstr>Term Frequency - Inverse Document Frequncy (TF-IDF)</vt:lpstr>
      <vt:lpstr>Term Frequency - TF</vt:lpstr>
      <vt:lpstr>Inverse Document Frequency - IDF</vt:lpstr>
      <vt:lpstr>Formula</vt:lpstr>
      <vt:lpstr>Calculation - Explained</vt:lpstr>
      <vt:lpstr>Summary</vt:lpstr>
      <vt:lpstr>Applications of TF-IDF</vt:lpstr>
      <vt:lpstr>NLP - Case Walkthrough</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venkat</dc:creator>
  <cp:lastModifiedBy>macbook</cp:lastModifiedBy>
  <cp:revision>19</cp:revision>
  <dcterms:created xsi:type="dcterms:W3CDTF">2025-11-07T07:38:56Z</dcterms:created>
  <dcterms:modified xsi:type="dcterms:W3CDTF">2026-10-13T08:04:27Z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7CAB2CE32EBA13E8182604692605B5CD_41</vt:lpwstr>
  </property>
  <property fmtid="{D5CDD505-2E9C-101B-9397-08002B2CF9AE}" pid="3" name="KSOProductBuildVer">
    <vt:lpwstr>1033-12.1.23143.23143</vt:lpwstr>
  </property>
</Properties>
</file>